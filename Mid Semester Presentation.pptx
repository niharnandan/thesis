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8"/>
  </p:notesMasterIdLst>
  <p:sldIdLst>
    <p:sldId id="256" r:id="rId2"/>
    <p:sldId id="261" r:id="rId3"/>
    <p:sldId id="269" r:id="rId4"/>
    <p:sldId id="264" r:id="rId5"/>
    <p:sldId id="268" r:id="rId6"/>
    <p:sldId id="262" r:id="rId7"/>
    <p:sldId id="274" r:id="rId8"/>
    <p:sldId id="270" r:id="rId9"/>
    <p:sldId id="272" r:id="rId10"/>
    <p:sldId id="273" r:id="rId11"/>
    <p:sldId id="267" r:id="rId12"/>
    <p:sldId id="271" r:id="rId13"/>
    <p:sldId id="275" r:id="rId14"/>
    <p:sldId id="257" r:id="rId15"/>
    <p:sldId id="259" r:id="rId16"/>
    <p:sldId id="26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thony E Wong" initials="AEW" lastIdx="1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87" autoAdjust="0"/>
    <p:restoredTop sz="94655"/>
  </p:normalViewPr>
  <p:slideViewPr>
    <p:cSldViewPr snapToGrid="0">
      <p:cViewPr varScale="1">
        <p:scale>
          <a:sx n="57" d="100"/>
          <a:sy n="57" d="100"/>
        </p:scale>
        <p:origin x="96" y="15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A960FA-F8F2-8342-92CA-A28CCF2F2744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997451-DD4C-6845-B353-833DB10F4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8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51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legend,</a:t>
            </a:r>
            <a:r>
              <a:rPr lang="en-US" baseline="0" dirty="0"/>
              <a:t> reference.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075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Remove this slide. Replace with RCP scenario plot and discussion (Moss et al 2010 pdf from tony)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225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connection between radiative forcing</a:t>
            </a:r>
            <a:r>
              <a:rPr lang="en-US" baseline="0" dirty="0"/>
              <a:t> and this slide.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416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reference to </a:t>
            </a:r>
            <a:r>
              <a:rPr lang="en-US" dirty="0" err="1"/>
              <a:t>Rahmstorf</a:t>
            </a:r>
            <a:r>
              <a:rPr lang="en-US" dirty="0"/>
              <a:t> 2007 (Science paper)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8181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want to characterize the uncertainty on our projections. </a:t>
            </a:r>
            <a:r>
              <a:rPr lang="en-US" dirty="0" err="1"/>
              <a:t>sigma_i</a:t>
            </a:r>
            <a:r>
              <a:rPr lang="en-US" dirty="0"/>
              <a:t> in figure (likelihood). Change</a:t>
            </a:r>
            <a:r>
              <a:rPr lang="en-US" baseline="0" dirty="0"/>
              <a:t> likelihood to include AR1 sigma.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097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show the residual</a:t>
            </a:r>
            <a:r>
              <a:rPr lang="en-US" baseline="0" dirty="0"/>
              <a:t> </a:t>
            </a:r>
            <a:r>
              <a:rPr lang="en-US" dirty="0"/>
              <a:t>equation</a:t>
            </a:r>
            <a:r>
              <a:rPr lang="en-US" baseline="0" dirty="0"/>
              <a:t> for AR1.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607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3E9FE-347F-4AA7-B5D0-2966CC58A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C5580E-3F1C-4A9A-84E1-44EE3481C1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E380AA-CCC0-4FA7-9C4E-EA2984862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35B48-001C-49CB-84DC-99D269597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8854D-1F70-4998-A8C0-77FFEFD9D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973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053B8-0E96-4A96-955D-54A151644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032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1D560-0399-4A07-91FA-0ED96ED01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1"/>
            <a:ext cx="10515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2041-A368-4396-A1E0-3E9A85C11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3D7D04-BBF4-4DD8-B294-BCA088A3D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43743-13F2-424A-88FA-CA4A9EDE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30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DC917-BCF9-4111-9DA7-17087B895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0C78B4-87BB-4206-B367-1480414F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10CF73-041D-4836-96A0-3B7A8592B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E432E-3E01-4725-A9E9-EBB86F71C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0BEF3-5810-43C6-B364-60970834E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040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70E30-BC99-419F-B20B-99A8B924F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86DD6-75F6-4720-BD69-9EA8AFDCD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1F27B6-5A13-4339-9827-242CD2C093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00A199-0BFD-435B-8853-E251FA964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DAF3BD-F030-4963-9B4D-DE0284FA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8FC9B-24E8-476B-8EA9-278A81CC8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436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1E4E3-5A5C-4D0C-89B5-1A779F52B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C8857-DA8C-4344-9865-DDC8F7D02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4E18C-7619-4081-9417-0AFA00BB6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8B93C0-2C63-4717-AC82-D4D6525949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965ECB-4E31-466C-8D0F-E4F2B005C6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76C466-3255-47D0-9E37-DFDA49345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F40B7F-38F7-4E26-BCA6-60830A5AE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5BF69D-9308-4455-9EEF-AE51A9B4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3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5095D-EC49-460F-928D-67384BF1C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E5C1A1-7DF8-43A4-AB39-1801ACE8B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7A75C-E0D2-43AF-ADEC-2C1E0C2D5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53D0AD-E56E-4CE8-908D-DE0E2CF84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067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028CA5-13F0-4611-AE48-040330822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10BC7B-9807-4005-8219-3A8D732A0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4EE15-5B44-48E9-BE4D-57B5FCE0F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787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3FB5F-2D46-40BD-B1EC-69896A53E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67DE-F302-4D0C-8BB6-0363A0F22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2894C8-99A6-4CC6-BA5C-164BC7FE1E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FC759-AC48-4F8E-9E54-153DAFCE0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235A42-5080-41B0-96E2-918F0499E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32E0C8-66A7-4FD5-8F64-E46FBB08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862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F9722-6B31-4F43-8844-6FA5D71D0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A3055F-F681-4828-A3E0-2B6E173CF4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159A9-C15B-4B14-B4CC-AD5E17D9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B940C-254C-4068-AA22-E999FF6AF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785F6C-141E-460A-ABBA-E1F88757D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40B232-DA99-40A3-9E4B-EC9A313CB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011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D67BC-E415-4F07-8E15-F1E0C8FE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E76AB9-B45F-4D8A-AEC8-2D287D76CF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872AA-386D-49F0-8CAE-2FB0C7E0C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01DDE-A963-4484-8462-77D4C35F7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58AA0-543C-4042-B5E0-7AD43CC32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421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845774-C8D6-4CAB-A2F4-9D474CBB2A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E64F6-6D7C-41E5-861C-FB405CC610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F78E00-DF1A-43CF-BBBB-84B645B40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8A1CF-EDAE-424B-8971-0025DE80D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4ADAF-C15A-41C3-8BEF-CB2E5B0B3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25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E93C2A-753E-456C-8C84-B5984DF5B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2B75F-78B7-4083-9BDE-BDCF2E9C6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DD2ED-1E44-4EB4-87EA-E417381BC5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CEAD56-E5CE-4A48-BE26-3F874B3EFFB2}" type="datetimeFigureOut">
              <a:rPr lang="en-US" smtClean="0"/>
              <a:t>10/24/2018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5FF47C-3C8A-4991-9246-88D3F1A9F7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C58EC-EB4F-4827-BEC5-0EBF23E2BF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43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EDC7E-AB10-433C-949E-719BCAAC75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Mid Semester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545BBF-C756-495B-99D7-71EE3A06F1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H. Nihar Nandan</a:t>
            </a:r>
          </a:p>
        </p:txBody>
      </p:sp>
    </p:spTree>
    <p:extLst>
      <p:ext uri="{BB962C8B-B14F-4D97-AF65-F5344CB8AC3E}">
        <p14:creationId xmlns:p14="http://schemas.microsoft.com/office/powerpoint/2010/main" val="26680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E6EA-3F5C-474F-A7EA-28C968D92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0AD4E-D176-421B-BC59-33FB77F4E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Human impact on the environment continues to grow on a global scale, as the increasing land and water use and the rising concentrations of greenhouse gases in the atmosphere show. We can measure this impact by calculating the radiative forcing. </a:t>
            </a:r>
          </a:p>
        </p:txBody>
      </p:sp>
      <p:pic>
        <p:nvPicPr>
          <p:cNvPr id="5" name="Picture 4" descr="A close up of a map&#10;&#10;Description generated with high confidence">
            <a:extLst>
              <a:ext uri="{FF2B5EF4-FFF2-40B4-BE49-F238E27FC236}">
                <a16:creationId xmlns:a16="http://schemas.microsoft.com/office/drawing/2014/main" id="{08FDA5AB-AC10-4D16-A31E-560E06A28E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9736" y="3080084"/>
            <a:ext cx="4490012" cy="34127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52EAE1-821A-4B72-8427-5C229E34A29B}"/>
              </a:ext>
            </a:extLst>
          </p:cNvPr>
          <p:cNvSpPr txBox="1"/>
          <p:nvPr/>
        </p:nvSpPr>
        <p:spPr>
          <a:xfrm>
            <a:off x="6192254" y="4008157"/>
            <a:ext cx="52578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Radiative forcing - is the difference between insolation (sunlight) absorbed by the Earth and energy radiated back to space. </a:t>
            </a:r>
          </a:p>
        </p:txBody>
      </p:sp>
    </p:spTree>
    <p:extLst>
      <p:ext uri="{BB962C8B-B14F-4D97-AF65-F5344CB8AC3E}">
        <p14:creationId xmlns:p14="http://schemas.microsoft.com/office/powerpoint/2010/main" val="264358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FADDB-45DD-488E-AE69-0F8F7507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Sea-level Change</a:t>
            </a:r>
          </a:p>
        </p:txBody>
      </p:sp>
      <p:pic>
        <p:nvPicPr>
          <p:cNvPr id="4" name="Picture 2" descr="http://science.sciencemag.org/content/sci/315/5810/368/F3.large.jpg?width=800&amp;height=600&amp;carousel=1">
            <a:extLst>
              <a:ext uri="{FF2B5EF4-FFF2-40B4-BE49-F238E27FC236}">
                <a16:creationId xmlns:a16="http://schemas.microsoft.com/office/drawing/2014/main" id="{133AE4AD-3332-44F1-88CD-AAFAC8B6ED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553372"/>
            <a:ext cx="3839325" cy="4875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916D68-5816-4CE5-877F-89CD9333233B}"/>
              </a:ext>
            </a:extLst>
          </p:cNvPr>
          <p:cNvSpPr txBox="1"/>
          <p:nvPr/>
        </p:nvSpPr>
        <p:spPr>
          <a:xfrm>
            <a:off x="5181600" y="1315454"/>
            <a:ext cx="6172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and GMSL model: the two of these combined gives a simplified model for how radiative forcing affect temperatures and in turn affects sea level.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BACD87-10C4-43ED-A554-2DF860F7584B}"/>
              </a:ext>
            </a:extLst>
          </p:cNvPr>
          <p:cNvSpPr txBox="1"/>
          <p:nvPr/>
        </p:nvSpPr>
        <p:spPr>
          <a:xfrm>
            <a:off x="5181600" y="3753853"/>
            <a:ext cx="6172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– Diffusion Ocean Energy Climate Model</a:t>
            </a:r>
          </a:p>
          <a:p>
            <a:r>
              <a:rPr lang="en-US" sz="2800" dirty="0"/>
              <a:t>GMSL – Global mean sea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ECA5B-B176-48F1-92CB-907CDCC12288}"/>
              </a:ext>
            </a:extLst>
          </p:cNvPr>
          <p:cNvSpPr/>
          <p:nvPr/>
        </p:nvSpPr>
        <p:spPr>
          <a:xfrm>
            <a:off x="1756554" y="6334780"/>
            <a:ext cx="25992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err="1"/>
              <a:t>Rahmstorf</a:t>
            </a:r>
            <a:r>
              <a:rPr lang="en-US" sz="2800" dirty="0"/>
              <a:t> 2007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6C9AF7-1F91-4E88-B465-6B16353280A0}"/>
              </a:ext>
            </a:extLst>
          </p:cNvPr>
          <p:cNvSpPr txBox="1"/>
          <p:nvPr/>
        </p:nvSpPr>
        <p:spPr>
          <a:xfrm>
            <a:off x="5181600" y="5242289"/>
            <a:ext cx="648453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</a:t>
            </a:r>
          </a:p>
          <a:p>
            <a:r>
              <a:rPr lang="en-US" dirty="0"/>
              <a:t>Red - Rate of sea-level rise obtained from tide gauge observations </a:t>
            </a:r>
          </a:p>
          <a:p>
            <a:r>
              <a:rPr lang="en-US" dirty="0"/>
              <a:t>Blue band - the statistical error</a:t>
            </a:r>
          </a:p>
          <a:p>
            <a:r>
              <a:rPr lang="en-US" dirty="0"/>
              <a:t>(2)</a:t>
            </a:r>
          </a:p>
          <a:p>
            <a:r>
              <a:rPr lang="en-US" dirty="0"/>
              <a:t>Red squares - unsmoothed, annual sea-level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654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5A10F1E-4D5A-4DA1-AB1A-19125F698D7B}"/>
              </a:ext>
            </a:extLst>
          </p:cNvPr>
          <p:cNvSpPr txBox="1"/>
          <p:nvPr/>
        </p:nvSpPr>
        <p:spPr>
          <a:xfrm>
            <a:off x="4851267" y="6334780"/>
            <a:ext cx="24894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Moss et al 2010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BE00FFC-D0B5-4BAF-9314-F13EBF934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55" y="1114424"/>
            <a:ext cx="10464489" cy="462915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F3DFA6D-0FB0-421D-B899-7DF212608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0328"/>
          </a:xfrm>
        </p:spPr>
        <p:txBody>
          <a:bodyPr>
            <a:normAutofit fontScale="90000"/>
          </a:bodyPr>
          <a:lstStyle/>
          <a:p>
            <a:r>
              <a:rPr lang="en-US" dirty="0"/>
              <a:t>Future radiative forcing in difference scenarios</a:t>
            </a:r>
          </a:p>
        </p:txBody>
      </p:sp>
    </p:spTree>
    <p:extLst>
      <p:ext uri="{BB962C8B-B14F-4D97-AF65-F5344CB8AC3E}">
        <p14:creationId xmlns:p14="http://schemas.microsoft.com/office/powerpoint/2010/main" val="165593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DD8FB-57DD-4729-A59E-332E30E6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NOAA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DB7D39-4248-42E8-9C50-36770C958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7559"/>
            <a:ext cx="12176871" cy="265324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FBE051-D5F9-400C-9044-F20FB63B77D2}"/>
              </a:ext>
            </a:extLst>
          </p:cNvPr>
          <p:cNvSpPr txBox="1"/>
          <p:nvPr/>
        </p:nvSpPr>
        <p:spPr>
          <a:xfrm>
            <a:off x="838200" y="1491916"/>
            <a:ext cx="8626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NOAA -National Oceanic and Atmospheric Administration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FAF36-E8CB-41DB-8D00-5232CF576800}"/>
              </a:ext>
            </a:extLst>
          </p:cNvPr>
          <p:cNvSpPr txBox="1"/>
          <p:nvPr/>
        </p:nvSpPr>
        <p:spPr>
          <a:xfrm>
            <a:off x="524933" y="5130801"/>
            <a:ext cx="1114213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We can see how an increase in radiative forcing has caused an increase in global mean temperatures and global mean sea-levels over the years.</a:t>
            </a:r>
          </a:p>
        </p:txBody>
      </p:sp>
    </p:spTree>
    <p:extLst>
      <p:ext uri="{BB962C8B-B14F-4D97-AF65-F5344CB8AC3E}">
        <p14:creationId xmlns:p14="http://schemas.microsoft.com/office/powerpoint/2010/main" val="229332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A2747-C860-4886-B9BB-651841A1D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Equation to model Sea-level Rise 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720C92-7700-40CA-979E-55B1448F29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First order forward Euler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Start Model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𝑎𝑠𝑠𝑢𝑚𝑒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8720C92-7700-40CA-979E-55B1448F29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CFA646-A8F0-440F-9C5E-CC11B4AD2484}"/>
                  </a:ext>
                </a:extLst>
              </p:cNvPr>
              <p:cNvSpPr txBox="1"/>
              <p:nvPr/>
            </p:nvSpPr>
            <p:spPr>
              <a:xfrm>
                <a:off x="5858934" y="1315454"/>
                <a:ext cx="6281335" cy="18490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800" dirty="0"/>
                  <a:t> – </a:t>
                </a:r>
                <a:r>
                  <a:rPr lang="en-US" sz="2800" dirty="0" err="1"/>
                  <a:t>Sealevel</a:t>
                </a:r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800" dirty="0"/>
                  <a:t> – time</a:t>
                </a:r>
              </a:p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800" dirty="0"/>
                  <a:t>– global mean temperature at time 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</m:oMath>
                </a14:m>
                <a:r>
                  <a:rPr lang="en-US" sz="2800" dirty="0"/>
                  <a:t> – Temperature equilibrium value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CFA646-A8F0-440F-9C5E-CC11B4AD2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8934" y="1315454"/>
                <a:ext cx="6281335" cy="1849096"/>
              </a:xfrm>
              <a:prstGeom prst="rect">
                <a:avLst/>
              </a:prstGeom>
              <a:blipFill>
                <a:blip r:embed="rId4"/>
                <a:stretch>
                  <a:fillRect t="-3300" r="-970" b="-6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77854C55-13CD-4BBF-B60B-D4D6820F6AD7}"/>
              </a:ext>
            </a:extLst>
          </p:cNvPr>
          <p:cNvSpPr/>
          <p:nvPr/>
        </p:nvSpPr>
        <p:spPr>
          <a:xfrm>
            <a:off x="4559315" y="6231264"/>
            <a:ext cx="25992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err="1"/>
              <a:t>Rahmstorf</a:t>
            </a:r>
            <a:r>
              <a:rPr lang="en-US" sz="2800" dirty="0"/>
              <a:t> 2007 </a:t>
            </a:r>
          </a:p>
        </p:txBody>
      </p:sp>
    </p:spTree>
    <p:extLst>
      <p:ext uri="{BB962C8B-B14F-4D97-AF65-F5344CB8AC3E}">
        <p14:creationId xmlns:p14="http://schemas.microsoft.com/office/powerpoint/2010/main" val="2226758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Calibrating the model to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Temperature (from DOECLIM)</a:t>
            </a:r>
          </a:p>
          <a:p>
            <a:r>
              <a:rPr lang="en-US" dirty="0"/>
              <a:t>Ocean heat (from DOECLIM)</a:t>
            </a:r>
          </a:p>
          <a:p>
            <a:r>
              <a:rPr lang="en-US" dirty="0"/>
              <a:t>Sea-level (from GMSL)</a:t>
            </a:r>
          </a:p>
          <a:p>
            <a:pPr marL="228600" lvl="1">
              <a:spcBef>
                <a:spcPts val="1000"/>
              </a:spcBef>
            </a:pPr>
            <a:r>
              <a:rPr lang="en-US" sz="2800" dirty="0"/>
              <a:t>Data: Temperature (forcing, NOAA), Sea-level: (calibration)</a:t>
            </a:r>
          </a:p>
          <a:p>
            <a:r>
              <a:rPr lang="en-US" dirty="0"/>
              <a:t>Calibrate the model using the above data. </a:t>
            </a:r>
          </a:p>
          <a:p>
            <a:r>
              <a:rPr lang="en-US" dirty="0"/>
              <a:t>We have to design a likelihood function using these data sets. </a:t>
            </a:r>
          </a:p>
        </p:txBody>
      </p:sp>
    </p:spTree>
    <p:extLst>
      <p:ext uri="{BB962C8B-B14F-4D97-AF65-F5344CB8AC3E}">
        <p14:creationId xmlns:p14="http://schemas.microsoft.com/office/powerpoint/2010/main" val="1804938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4BCA-1476-44E9-9C18-A6E94B4BD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MCMC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E30CB-2A89-4421-B4B2-A205423CB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0"/>
            <a:ext cx="10515600" cy="502017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want to sample parameters from the posterior distribution. Simple Bayes’ likelihood function. </a:t>
            </a:r>
          </a:p>
          <a:p>
            <a:r>
              <a:rPr lang="en-US" dirty="0"/>
              <a:t>We want accurate projections, but along with the projections we also want to characterize the uncertainties</a:t>
            </a:r>
          </a:p>
          <a:p>
            <a:r>
              <a:rPr lang="en-US" dirty="0"/>
              <a:t>We’re doing this using MCMC chains - </a:t>
            </a:r>
          </a:p>
          <a:p>
            <a:r>
              <a:rPr lang="en-US" dirty="0"/>
              <a:t>5 parameters in our MCMC chain –</a:t>
            </a:r>
          </a:p>
          <a:p>
            <a:pPr lvl="1"/>
            <a:r>
              <a:rPr lang="en-US" dirty="0"/>
              <a:t>Alpha (Sea-level sensitivity to changes in temp.)</a:t>
            </a:r>
          </a:p>
          <a:p>
            <a:pPr lvl="1"/>
            <a:r>
              <a:rPr lang="en-US" dirty="0"/>
              <a:t>Temperature Equilibrium</a:t>
            </a:r>
          </a:p>
          <a:p>
            <a:pPr lvl="1"/>
            <a:r>
              <a:rPr lang="en-US" dirty="0"/>
              <a:t>Initial sea level value of model</a:t>
            </a:r>
          </a:p>
          <a:p>
            <a:pPr lvl="1"/>
            <a:r>
              <a:rPr lang="en-US" dirty="0"/>
              <a:t>Rho (Uncertainty in sea-level estimates)</a:t>
            </a:r>
          </a:p>
          <a:p>
            <a:pPr lvl="1"/>
            <a:r>
              <a:rPr lang="en-US" dirty="0"/>
              <a:t>Uncertainty in AR1 matrix</a:t>
            </a:r>
          </a:p>
          <a:p>
            <a:r>
              <a:rPr lang="en-US" dirty="0"/>
              <a:t>The data that we use for the calibration are the sea-levels from the NOAA dataset. </a:t>
            </a:r>
          </a:p>
          <a:p>
            <a:r>
              <a:rPr lang="en-US" dirty="0"/>
              <a:t>Likelihood function - </a:t>
            </a:r>
          </a:p>
        </p:txBody>
      </p:sp>
    </p:spTree>
    <p:extLst>
      <p:ext uri="{BB962C8B-B14F-4D97-AF65-F5344CB8AC3E}">
        <p14:creationId xmlns:p14="http://schemas.microsoft.com/office/powerpoint/2010/main" val="1880209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C4237-8385-439A-86D4-DF3515A0E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History Plots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A3BB48-7BDD-4640-B7B1-9D4A2599EA96}"/>
              </a:ext>
            </a:extLst>
          </p:cNvPr>
          <p:cNvSpPr txBox="1"/>
          <p:nvPr/>
        </p:nvSpPr>
        <p:spPr>
          <a:xfrm>
            <a:off x="1609930" y="4899012"/>
            <a:ext cx="10246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Alpha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EC1B2A-71D6-4AAC-8706-45D107249D4C}"/>
              </a:ext>
            </a:extLst>
          </p:cNvPr>
          <p:cNvSpPr txBox="1"/>
          <p:nvPr/>
        </p:nvSpPr>
        <p:spPr>
          <a:xfrm>
            <a:off x="5748725" y="4899012"/>
            <a:ext cx="6945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Teq</a:t>
            </a:r>
            <a:endParaRPr lang="en-US" sz="2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05670E-3745-4450-86CE-AF4751EB3C38}"/>
              </a:ext>
            </a:extLst>
          </p:cNvPr>
          <p:cNvSpPr txBox="1"/>
          <p:nvPr/>
        </p:nvSpPr>
        <p:spPr>
          <a:xfrm>
            <a:off x="9592543" y="4899012"/>
            <a:ext cx="7585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Rho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2714EE7-4ED6-4125-8573-761F58ED4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32" y="1958988"/>
            <a:ext cx="3743433" cy="26077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2104F80-1D62-472E-9EF1-AA2529BC8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304" y="1958988"/>
            <a:ext cx="3901718" cy="26077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ACB4D70-AA54-45F5-A0E8-1761E536E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4697" y="1958988"/>
            <a:ext cx="3854232" cy="260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756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2D8FD-5E3D-4045-B506-E80DB9941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Gelman-Rubin Diagnostic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618CFB-AD78-42C9-ABE2-65EC09539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368" y="1644785"/>
            <a:ext cx="6577263" cy="460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59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0C42D-2B0E-4A61-B209-7B875EE7A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AR1 Matrix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99751B2-D479-42C9-BDDE-01F7220842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29296"/>
            <a:ext cx="10515600" cy="1363579"/>
          </a:xfrm>
        </p:spPr>
        <p:txBody>
          <a:bodyPr/>
          <a:lstStyle/>
          <a:p>
            <a:r>
              <a:rPr lang="en-US" dirty="0"/>
              <a:t>In the AR1 Matrix, we account for sea levels, but we want to account for the uncertainties for temperatures and ocean heat along with the correlated residuals.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0F566C3-3256-48D3-8ECD-339EEFC1A330}"/>
                  </a:ext>
                </a:extLst>
              </p:cNvPr>
              <p:cNvSpPr/>
              <p:nvPr/>
            </p:nvSpPr>
            <p:spPr>
              <a:xfrm>
                <a:off x="1494693" y="2922589"/>
                <a:ext cx="4042508" cy="5314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800" dirty="0"/>
                  <a:t>/(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1−</m:t>
                    </m:r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800" b="0" i="1" smtClean="0">
                        <a:latin typeface="Cambria Math" charset="0"/>
                      </a:rPr>
                      <m:t>)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0F566C3-3256-48D3-8ECD-339EEFC1A3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93" y="2922589"/>
                <a:ext cx="4042508" cy="531428"/>
              </a:xfrm>
              <a:prstGeom prst="rect">
                <a:avLst/>
              </a:prstGeom>
              <a:blipFill rotWithShape="0">
                <a:blip r:embed="rId2"/>
                <a:stretch>
                  <a:fillRect t="-9091" b="-30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38951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721147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38951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1020" r="-403759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1020" r="-300746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1020" r="-203008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1020" r="-101493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1020" r="-2256" b="-4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100000" r="-403759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100000" r="-300746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100000" r="-203008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100000" r="-10149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100000" r="-2256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02041" r="-403759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02041" r="-30074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02041" r="-203008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02041" r="-101493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02041" r="-2256" b="-2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98990" r="-403759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98990" r="-30074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98990" r="-203008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98990" r="-101493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98990" r="-2256" b="-1010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403061" r="-403759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403061" r="-30074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403061" r="-203008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403061" r="-101493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403061" r="-2256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21147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78292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10C3B-DFF3-4036-B0AB-47526A61F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Till now we’ve only done a model on the GMSL with a historical temperature data forcing the model with an AR1 process which has a single uncertainty parameter. </a:t>
            </a:r>
          </a:p>
          <a:p>
            <a:r>
              <a:rPr lang="en-US" dirty="0"/>
              <a:t>That work (and all others) assumed different data sets’ errors are independent. </a:t>
            </a:r>
          </a:p>
          <a:p>
            <a:pPr lvl="1"/>
            <a:r>
              <a:rPr lang="en-US" dirty="0"/>
              <a:t>The advance we want to make is accounting for these dependencies</a:t>
            </a:r>
          </a:p>
          <a:p>
            <a:pPr lvl="1"/>
            <a:r>
              <a:rPr lang="en-US" dirty="0"/>
              <a:t>show AR1 matrix with correlated uncertainties. </a:t>
            </a:r>
          </a:p>
          <a:p>
            <a:r>
              <a:rPr lang="en-US" dirty="0"/>
              <a:t>Previous work with </a:t>
            </a:r>
            <a:r>
              <a:rPr lang="en-US" dirty="0" err="1"/>
              <a:t>DOECLIM+Rahmstorf</a:t>
            </a:r>
            <a:r>
              <a:rPr lang="en-US" dirty="0"/>
              <a:t> GMSL</a:t>
            </a:r>
          </a:p>
          <a:p>
            <a:r>
              <a:rPr lang="en-US" dirty="0"/>
              <a:t>Use this better error structure than previous simulations and compare the differences with the new sea-level and temperature projections.  </a:t>
            </a:r>
          </a:p>
        </p:txBody>
      </p:sp>
    </p:spTree>
    <p:extLst>
      <p:ext uri="{BB962C8B-B14F-4D97-AF65-F5344CB8AC3E}">
        <p14:creationId xmlns:p14="http://schemas.microsoft.com/office/powerpoint/2010/main" val="406993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A126C-3ADC-4275-8446-6A01EEAE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AR1 Matrix with correlated uncertainties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BDCAB5F-0ECA-459D-9B22-2763CDA254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2139143"/>
                  </p:ext>
                </p:extLst>
              </p:nvPr>
            </p:nvGraphicFramePr>
            <p:xfrm>
              <a:off x="2573867" y="2530431"/>
              <a:ext cx="2438400" cy="179713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𝑆𝐿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BDCAB5F-0ECA-459D-9B22-2763CDA254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2139143"/>
                  </p:ext>
                </p:extLst>
              </p:nvPr>
            </p:nvGraphicFramePr>
            <p:xfrm>
              <a:off x="2573867" y="2530431"/>
              <a:ext cx="2438400" cy="179713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1020" r="-20074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1020" r="-10225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1020" r="-1493" b="-2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100000" r="-20074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100000" r="-10225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100000" r="-1493" b="-1010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202041" r="-20074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202041" r="-10225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202041" r="-1493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3035F8-57A6-4FA2-B23C-B65122E7DBE8}"/>
                  </a:ext>
                </a:extLst>
              </p:cNvPr>
              <p:cNvSpPr txBox="1"/>
              <p:nvPr/>
            </p:nvSpPr>
            <p:spPr>
              <a:xfrm>
                <a:off x="1565578" y="3213557"/>
                <a:ext cx="62735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3035F8-57A6-4FA2-B23C-B65122E7D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78" y="3213557"/>
                <a:ext cx="627351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71BA26C-6510-4DBD-8CDD-0DD98FB3168D}"/>
              </a:ext>
            </a:extLst>
          </p:cNvPr>
          <p:cNvSpPr txBox="1"/>
          <p:nvPr/>
        </p:nvSpPr>
        <p:spPr>
          <a:xfrm>
            <a:off x="5393205" y="2736502"/>
            <a:ext cx="459773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Relation between SL and T. </a:t>
            </a:r>
          </a:p>
          <a:p>
            <a:r>
              <a:rPr lang="en-US" sz="2800" dirty="0"/>
              <a:t>This is a parameter that will</a:t>
            </a:r>
          </a:p>
          <a:p>
            <a:r>
              <a:rPr lang="en-US" sz="2800" dirty="0"/>
              <a:t> be a part of the MCMC Chain.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127E69-775F-4207-8F6A-D3F704A8A198}"/>
              </a:ext>
            </a:extLst>
          </p:cNvPr>
          <p:cNvCxnSpPr/>
          <p:nvPr/>
        </p:nvCxnSpPr>
        <p:spPr>
          <a:xfrm flipV="1">
            <a:off x="3793067" y="1744133"/>
            <a:ext cx="2032000" cy="9923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889115B-B1B2-4D85-9766-C37F4E393F2F}"/>
              </a:ext>
            </a:extLst>
          </p:cNvPr>
          <p:cNvCxnSpPr>
            <a:endCxn id="6" idx="0"/>
          </p:cNvCxnSpPr>
          <p:nvPr/>
        </p:nvCxnSpPr>
        <p:spPr>
          <a:xfrm>
            <a:off x="5842000" y="1768321"/>
            <a:ext cx="1850072" cy="968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230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5C53-EDB5-44E6-A94A-9D1BB2663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been done -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D9501-7E18-4D69-80B6-157C1A793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1"/>
            <a:ext cx="10515600" cy="1607383"/>
          </a:xfrm>
        </p:spPr>
        <p:txBody>
          <a:bodyPr/>
          <a:lstStyle/>
          <a:p>
            <a:r>
              <a:rPr lang="en-US" dirty="0"/>
              <a:t>MCMC model</a:t>
            </a:r>
          </a:p>
          <a:p>
            <a:r>
              <a:rPr lang="en-US" dirty="0"/>
              <a:t>DOECLIM model</a:t>
            </a:r>
          </a:p>
          <a:p>
            <a:r>
              <a:rPr lang="en-US" dirty="0"/>
              <a:t>Simple AR1 matrix with 0’s as off-diagonal values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2ACA028-7EC0-46AF-9E9A-CF2B98A6B0CB}"/>
              </a:ext>
            </a:extLst>
          </p:cNvPr>
          <p:cNvSpPr txBox="1">
            <a:spLocks/>
          </p:cNvSpPr>
          <p:nvPr/>
        </p:nvSpPr>
        <p:spPr>
          <a:xfrm>
            <a:off x="838200" y="3117017"/>
            <a:ext cx="10515600" cy="950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What we’re going to do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E375AF-8ED2-4553-99D9-C07D927D090D}"/>
              </a:ext>
            </a:extLst>
          </p:cNvPr>
          <p:cNvSpPr txBox="1">
            <a:spLocks/>
          </p:cNvSpPr>
          <p:nvPr/>
        </p:nvSpPr>
        <p:spPr>
          <a:xfrm>
            <a:off x="838200" y="4224592"/>
            <a:ext cx="10515600" cy="2047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MCMC model which takes in sea-level values and gives us estimates on temperature </a:t>
            </a:r>
          </a:p>
          <a:p>
            <a:r>
              <a:rPr lang="en-US" dirty="0"/>
              <a:t>Combined and easy-to-use python script</a:t>
            </a:r>
          </a:p>
          <a:p>
            <a:r>
              <a:rPr lang="en-US" dirty="0"/>
              <a:t>AR1 matrix which includes correlated uncertainties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1431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080C1-8EA5-4A70-9B44-C543F4A56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8EF24-B224-4155-91B1-E792DE570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November </a:t>
            </a:r>
            <a:r>
              <a:rPr lang="mr-IN" dirty="0"/>
              <a:t>–</a:t>
            </a:r>
            <a:endParaRPr lang="en-US" dirty="0"/>
          </a:p>
          <a:p>
            <a:pPr lvl="1"/>
            <a:r>
              <a:rPr lang="en-US" dirty="0"/>
              <a:t>DOECLIM + GMSL model coupling (no calibration)</a:t>
            </a:r>
          </a:p>
          <a:p>
            <a:r>
              <a:rPr lang="en-US" dirty="0"/>
              <a:t>December – </a:t>
            </a:r>
          </a:p>
          <a:p>
            <a:pPr lvl="1"/>
            <a:r>
              <a:rPr lang="en-US" dirty="0"/>
              <a:t>Finish combining DOECLIM model with the GMSL model and the calibration.</a:t>
            </a:r>
          </a:p>
          <a:p>
            <a:r>
              <a:rPr lang="en-US" dirty="0"/>
              <a:t>Jan </a:t>
            </a:r>
            <a:r>
              <a:rPr lang="mr-IN" dirty="0"/>
              <a:t>–</a:t>
            </a:r>
            <a:r>
              <a:rPr lang="en-US" dirty="0"/>
              <a:t> April </a:t>
            </a:r>
            <a:r>
              <a:rPr lang="mr-IN" dirty="0"/>
              <a:t>–</a:t>
            </a:r>
            <a:r>
              <a:rPr lang="en-US" dirty="0"/>
              <a:t> Experiments and error </a:t>
            </a:r>
            <a:r>
              <a:rPr lang="en-US"/>
              <a:t>checking along with write-up.</a:t>
            </a:r>
            <a:endParaRPr lang="en-US" dirty="0"/>
          </a:p>
          <a:p>
            <a:r>
              <a:rPr lang="en-US" dirty="0"/>
              <a:t>End of April – Final defense</a:t>
            </a:r>
          </a:p>
        </p:txBody>
      </p:sp>
    </p:spTree>
    <p:extLst>
      <p:ext uri="{BB962C8B-B14F-4D97-AF65-F5344CB8AC3E}">
        <p14:creationId xmlns:p14="http://schemas.microsoft.com/office/powerpoint/2010/main" val="17474728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A4DCC2-56D4-4FEB-BA98-1C25194A0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\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charset="0"/>
                              </a:rPr>
                              <m:t>epsilon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r>
                  <a:rPr lang="en-US" dirty="0"/>
                  <a:t>Will put each variable means</a:t>
                </a:r>
                <a:endParaRPr lang="en-US" b="0" dirty="0"/>
              </a:p>
              <a:p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DA4DCC2-56D4-4FEB-BA98-1C25194A0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  <a:blipFill rotWithShape="0"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56632757-107D-438A-BA93-6EBF49DFD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0328"/>
          </a:xfrm>
        </p:spPr>
        <p:txBody>
          <a:bodyPr/>
          <a:lstStyle/>
          <a:p>
            <a:r>
              <a:rPr lang="en-US" dirty="0"/>
              <a:t>Building the AR1 Matrix</a:t>
            </a:r>
          </a:p>
        </p:txBody>
      </p:sp>
    </p:spTree>
    <p:extLst>
      <p:ext uri="{BB962C8B-B14F-4D97-AF65-F5344CB8AC3E}">
        <p14:creationId xmlns:p14="http://schemas.microsoft.com/office/powerpoint/2010/main" val="2434353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737</TotalTime>
  <Words>845</Words>
  <Application>Microsoft Office PowerPoint</Application>
  <PresentationFormat>Widescreen</PresentationFormat>
  <Paragraphs>144</Paragraphs>
  <Slides>16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Mangal</vt:lpstr>
      <vt:lpstr>Office Theme</vt:lpstr>
      <vt:lpstr>Mid Semester Presentation</vt:lpstr>
      <vt:lpstr>Motivation</vt:lpstr>
      <vt:lpstr>Sea-level Change</vt:lpstr>
      <vt:lpstr>Future radiative forcing in difference scenarios</vt:lpstr>
      <vt:lpstr>NOAA Data</vt:lpstr>
      <vt:lpstr>Equation to model Sea-level Rise -</vt:lpstr>
      <vt:lpstr>Calibrating the model to the data</vt:lpstr>
      <vt:lpstr>The MCMC chain</vt:lpstr>
      <vt:lpstr>History Plots</vt:lpstr>
      <vt:lpstr>Gelman-Rubin Diagnostic</vt:lpstr>
      <vt:lpstr>AR1 Matrix</vt:lpstr>
      <vt:lpstr>PowerPoint Presentation</vt:lpstr>
      <vt:lpstr>AR1 Matrix with correlated uncertainties</vt:lpstr>
      <vt:lpstr>What’s been done -</vt:lpstr>
      <vt:lpstr>Future Timeline</vt:lpstr>
      <vt:lpstr>Building the AR1 Matrix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 Semester Presentation</dc:title>
  <dc:creator>H. Nihar Nandan</dc:creator>
  <cp:lastModifiedBy>H. Nihar Nandan</cp:lastModifiedBy>
  <cp:revision>85</cp:revision>
  <dcterms:created xsi:type="dcterms:W3CDTF">2018-10-19T18:36:10Z</dcterms:created>
  <dcterms:modified xsi:type="dcterms:W3CDTF">2018-10-25T02:36:26Z</dcterms:modified>
</cp:coreProperties>
</file>