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56" r:id="rId2"/>
    <p:sldId id="261" r:id="rId3"/>
    <p:sldId id="269" r:id="rId4"/>
    <p:sldId id="264" r:id="rId5"/>
    <p:sldId id="268" r:id="rId6"/>
    <p:sldId id="262" r:id="rId7"/>
    <p:sldId id="274" r:id="rId8"/>
    <p:sldId id="270" r:id="rId9"/>
    <p:sldId id="272" r:id="rId10"/>
    <p:sldId id="273" r:id="rId11"/>
    <p:sldId id="266" r:id="rId12"/>
    <p:sldId id="267" r:id="rId13"/>
    <p:sldId id="271" r:id="rId14"/>
    <p:sldId id="257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hony E Wong" initials="AEW" lastIdx="1" clrIdx="0">
    <p:extLst>
      <p:ext uri="{19B8F6BF-5375-455C-9EA6-DF929625EA0E}">
        <p15:presenceInfo xmlns:p15="http://schemas.microsoft.com/office/powerpoint/2012/main" userId="" providerId="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7" autoAdjust="0"/>
    <p:restoredTop sz="94655"/>
  </p:normalViewPr>
  <p:slideViewPr>
    <p:cSldViewPr snapToGrid="0">
      <p:cViewPr varScale="1">
        <p:scale>
          <a:sx n="145" d="100"/>
          <a:sy n="145" d="100"/>
        </p:scale>
        <p:origin x="5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commentAuthors" Target="commentAuthors.xml"/><Relationship Id="rId1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8-10-24T16:54:48.547" idx="1">
    <p:pos x="10" y="10"/>
    <p:text/>
    <p:extLst>
      <p:ext uri="{C676402C-5697-4E1C-873F-D02D1690AC5C}">
        <p15:threadingInfo xmlns:p15="http://schemas.microsoft.com/office/powerpoint/2012/main" timeZoneBias="3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960FA-F8F2-8342-92CA-A28CCF2F2744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97451-DD4C-6845-B353-833DB10F4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8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1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Add legend,</a:t>
            </a:r>
            <a:r>
              <a:rPr lang="en-US" baseline="0" dirty="0" smtClean="0"/>
              <a:t> reference.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Remove this slide. Replace with RCP scenario plot and discussion (Moss et al 2010 pdf from tony)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25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Make the connection between radiative forcing</a:t>
            </a:r>
            <a:r>
              <a:rPr lang="en-US" baseline="0" dirty="0" smtClean="0"/>
              <a:t> and this slide.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add reference to </a:t>
            </a:r>
            <a:r>
              <a:rPr lang="en-US" dirty="0" err="1" smtClean="0"/>
              <a:t>Rahmstorf</a:t>
            </a:r>
            <a:r>
              <a:rPr lang="en-US" dirty="0" smtClean="0"/>
              <a:t> 2007 (Science paper)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8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We want to characterize the uncertainty on our projections. </a:t>
            </a:r>
            <a:r>
              <a:rPr lang="en-US" dirty="0" err="1" smtClean="0"/>
              <a:t>sigma_i</a:t>
            </a:r>
            <a:r>
              <a:rPr lang="en-US" dirty="0" smtClean="0"/>
              <a:t> in figure (likelihood). Change</a:t>
            </a:r>
            <a:r>
              <a:rPr lang="en-US" baseline="0" dirty="0" smtClean="0"/>
              <a:t> likelihood to include AR1 sigma.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Just show the residual</a:t>
            </a:r>
            <a:r>
              <a:rPr lang="en-US" baseline="0" dirty="0" smtClean="0"/>
              <a:t> </a:t>
            </a:r>
            <a:r>
              <a:rPr lang="en-US" dirty="0" smtClean="0"/>
              <a:t>equation</a:t>
            </a:r>
            <a:r>
              <a:rPr lang="en-US" baseline="0" dirty="0" smtClean="0"/>
              <a:t> for AR1.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8B3E9FE-347F-4AA7-B5D0-2966CC58A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85C5580E-3F1C-4A9A-84E1-44EE3481C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BE380AA-CCC0-4FA7-9C4E-EA2984862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0735B48-001C-49CB-84DC-99D26959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18854D-1F70-4998-A8C0-77FFEFD9D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73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D053B8-0E96-4A96-955D-54A151644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1D560-0399-4A07-91FA-0ED96ED01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0B12041-A368-4396-A1E0-3E9A85C11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3D7D04-BBF4-4DD8-B294-BCA088A3D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0F43743-13F2-424A-88FA-CA4A9EDE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30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9DC917-BCF9-4111-9DA7-17087B89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50C78B4-87BB-4206-B367-1480414F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410CF73-041D-4836-96A0-3B7A8592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0BE432E-3E01-4725-A9E9-EBB86F71C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050BEF3-5810-43C6-B364-60970834E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040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370E30-BC99-419F-B20B-99A8B924F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7A86DD6-75F6-4720-BD69-9EA8AFDCD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E1F27B6-5A13-4339-9827-242CD2C093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500A199-0BFD-435B-8853-E251FA964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EDAF3BD-F030-4963-9B4D-DE0284FA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F28FC9B-24E8-476B-8EA9-278A81CC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436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F71E4E3-5A5C-4D0C-89B5-1A779F52B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8BEC8857-DA8C-4344-9865-DDC8F7D02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114E18C-7619-4081-9417-0AFA00BB6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18B93C0-2C63-4717-AC82-D4D6525949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FF965ECB-4E31-466C-8D0F-E4F2B005C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FA76C466-3255-47D0-9E37-DFDA49345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60F40B7F-38F7-4E26-BCA6-60830A5A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F25BF69D-9308-4455-9EEF-AE51A9B4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3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FD5095D-EC49-460F-928D-67384BF1C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7AE5C1A1-7DF8-43A4-AB39-1801ACE8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5987A75C-E0D2-43AF-ADEC-2C1E0C2D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9553D0AD-E56E-4CE8-908D-DE0E2CF84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067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A028CA5-13F0-4611-AE48-04033082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D10BC7B-9807-4005-8219-3A8D732A0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4C4EE15-5B44-48E9-BE4D-57B5FCE0F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787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D3FB5F-2D46-40BD-B1EC-69896A53E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13F67DE-F302-4D0C-8BB6-0363A0F22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D62894C8-99A6-4CC6-BA5C-164BC7FE1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51FC759-AC48-4F8E-9E54-153DAFCE0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56235A42-5080-41B0-96E2-918F0499E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132E0C8-66A7-4FD5-8F64-E46FBB08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86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DF9722-6B31-4F43-8844-6FA5D71D0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E1A3055F-F681-4828-A3E0-2B6E173CF4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7B159A9-C15B-4B14-B4CC-AD5E17D9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8DB940C-254C-4068-AA22-E999FF6AF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E1785F6C-141E-460A-ABBA-E1F88757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40B232-DA99-40A3-9E4B-EC9A313CB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011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8D67BC-E415-4F07-8E15-F1E0C8FE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C0E76AB9-B45F-4D8A-AEC8-2D287D76C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86872AA-386D-49F0-8CAE-2FB0C7E0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DC01DDE-A963-4484-8462-77D4C35F7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AB58AA0-543C-4042-B5E0-7AD43CC32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421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70845774-C8D6-4CAB-A2F4-9D474CBB2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BA3E64F6-6D7C-41E5-861C-FB405CC610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8F78E00-DF1A-43CF-BBBB-84B645B40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0A8A1CF-EDAE-424B-8971-0025DE80D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8F4ADAF-C15A-41C3-8BEF-CB2E5B0B3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2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2E93C2A-753E-456C-8C84-B5984DF5B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D02B75F-78B7-4083-9BDE-BDCF2E9C6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4EDD2ED-1E44-4EB4-87EA-E417381BC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75FF47C-3C8A-4991-9246-88D3F1A9F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8FC58EC-EB4F-4827-BEC5-0EBF23E2B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43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comments" Target="../comments/comment1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pic>
        <p:nvPicPr>
          <p:cNvPr id="5" name="Picture 4" descr="A close up of a map&#10;&#10;Description generated with high confidence">
            <a:extLst>
              <a:ext uri="{FF2B5EF4-FFF2-40B4-BE49-F238E27FC236}">
                <a16:creationId xmlns:a16="http://schemas.microsoft.com/office/drawing/2014/main" xmlns="" id="{08FDA5AB-AC10-4D16-A31E-560E06A28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9736" y="3080084"/>
            <a:ext cx="4490012" cy="34127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52EAE1-821A-4B72-8427-5C229E34A29B}"/>
              </a:ext>
            </a:extLst>
          </p:cNvPr>
          <p:cNvSpPr txBox="1"/>
          <p:nvPr/>
        </p:nvSpPr>
        <p:spPr>
          <a:xfrm>
            <a:off x="6192254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xmlns="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D916D68-5816-4CE5-877F-89CD9333233B}"/>
              </a:ext>
            </a:extLst>
          </p:cNvPr>
          <p:cNvSpPr txBox="1"/>
          <p:nvPr/>
        </p:nvSpPr>
        <p:spPr>
          <a:xfrm>
            <a:off x="5181600" y="1716505"/>
            <a:ext cx="6172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</a:t>
            </a:r>
            <a:r>
              <a:rPr lang="en-US" sz="2800" dirty="0" smtClean="0"/>
              <a:t>GMSL model: </a:t>
            </a:r>
            <a:r>
              <a:rPr lang="en-US" sz="2800" dirty="0"/>
              <a:t>the two of these combined gives a simplified model for how radiative forcing affect temperatures and in </a:t>
            </a:r>
            <a:r>
              <a:rPr lang="en-US" sz="2800" dirty="0" smtClean="0"/>
              <a:t>turn affects </a:t>
            </a:r>
            <a:r>
              <a:rPr lang="en-US" sz="2800" dirty="0"/>
              <a:t>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CABACD87-10C4-43ED-A554-2DF860F7584B}"/>
              </a:ext>
            </a:extLst>
          </p:cNvPr>
          <p:cNvSpPr txBox="1"/>
          <p:nvPr/>
        </p:nvSpPr>
        <p:spPr>
          <a:xfrm>
            <a:off x="5181600" y="4154904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0DC2089-725A-4C88-834A-C66BA229D4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556" t="8364" r="4110"/>
          <a:stretch/>
        </p:blipFill>
        <p:spPr>
          <a:xfrm rot="5400000">
            <a:off x="6471305" y="748709"/>
            <a:ext cx="4981840" cy="5732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D7627A4-9F79-4113-9EF5-906B309736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31" t="6186" r="49235"/>
          <a:stretch/>
        </p:blipFill>
        <p:spPr>
          <a:xfrm rot="5400000">
            <a:off x="670722" y="619032"/>
            <a:ext cx="4981838" cy="5868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5A10F1E-4D5A-4DA1-AB1A-19125F698D7B}"/>
              </a:ext>
            </a:extLst>
          </p:cNvPr>
          <p:cNvSpPr txBox="1"/>
          <p:nvPr/>
        </p:nvSpPr>
        <p:spPr>
          <a:xfrm>
            <a:off x="2685417" y="6395978"/>
            <a:ext cx="68131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Kriegler</a:t>
            </a:r>
            <a:r>
              <a:rPr lang="en-US" dirty="0" smtClean="0"/>
              <a:t> (2005)</a:t>
            </a:r>
          </a:p>
          <a:p>
            <a:r>
              <a:rPr lang="en-US" dirty="0" smtClean="0"/>
              <a:t>https</a:t>
            </a:r>
            <a:r>
              <a:rPr lang="en-US" dirty="0"/>
              <a:t>://www.pik-potsdam.de/members/edenh/theses/PhDKriegler.pdf</a:t>
            </a:r>
          </a:p>
        </p:txBody>
      </p:sp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Equations -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b="0" dirty="0" smtClean="0"/>
                  <a:t>Start </a:t>
                </a:r>
                <a:r>
                  <a:rPr lang="en-US" b="0" dirty="0"/>
                  <a:t>Model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𝑎𝑠𝑠𝑢𝑚𝑒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Calibrating the model to the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Temperature (from DOWCLIM)</a:t>
            </a:r>
          </a:p>
          <a:p>
            <a:r>
              <a:rPr lang="en-US" dirty="0" smtClean="0"/>
              <a:t>Ocean heat (from DOECLIM)</a:t>
            </a:r>
          </a:p>
          <a:p>
            <a:r>
              <a:rPr lang="en-US" dirty="0" err="1" smtClean="0"/>
              <a:t>Sealevel</a:t>
            </a:r>
            <a:r>
              <a:rPr lang="en-US" dirty="0" smtClean="0"/>
              <a:t> (from GMSL)</a:t>
            </a:r>
          </a:p>
          <a:p>
            <a:pPr marL="228600" lvl="1">
              <a:spcBef>
                <a:spcPts val="1000"/>
              </a:spcBef>
            </a:pPr>
            <a:r>
              <a:rPr lang="en-US" dirty="0"/>
              <a:t>Data: Temperature (forcing, NOAA), </a:t>
            </a:r>
            <a:r>
              <a:rPr lang="en-US" dirty="0" err="1"/>
              <a:t>Sealevel</a:t>
            </a:r>
            <a:r>
              <a:rPr lang="en-US" dirty="0"/>
              <a:t>: (calibration)</a:t>
            </a:r>
          </a:p>
          <a:p>
            <a:r>
              <a:rPr lang="en-US" dirty="0" smtClean="0"/>
              <a:t>Calibrate the model using the above data. </a:t>
            </a:r>
          </a:p>
          <a:p>
            <a:r>
              <a:rPr lang="en-US" dirty="0" smtClean="0"/>
              <a:t>We have to design a likelihood function using these data sets.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938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/>
              <a:t>We want to sample parameters from the posterior distribution. Simple Bayes’ likelihood function. </a:t>
            </a:r>
          </a:p>
          <a:p>
            <a:r>
              <a:rPr lang="en-US" dirty="0" smtClean="0"/>
              <a:t>We </a:t>
            </a:r>
            <a:r>
              <a:rPr lang="en-US" dirty="0"/>
              <a:t>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</a:t>
            </a:r>
            <a:r>
              <a:rPr lang="en-US" dirty="0" smtClean="0"/>
              <a:t>sensitivity to changes in temp.)</a:t>
            </a:r>
            <a:endParaRPr lang="en-US" dirty="0"/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Likelihood function -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07C7BC19-A802-4A50-8EC8-83768DA9C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642" y="5542545"/>
            <a:ext cx="6228656" cy="95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Plots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CCA3BB48-7BDD-4640-B7B1-9D4A2599EA96}"/>
              </a:ext>
            </a:extLst>
          </p:cNvPr>
          <p:cNvSpPr txBox="1"/>
          <p:nvPr/>
        </p:nvSpPr>
        <p:spPr>
          <a:xfrm>
            <a:off x="1609930" y="4899012"/>
            <a:ext cx="10246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Alpha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DFEC1B2A-71D6-4AAC-8706-45D107249D4C}"/>
              </a:ext>
            </a:extLst>
          </p:cNvPr>
          <p:cNvSpPr txBox="1"/>
          <p:nvPr/>
        </p:nvSpPr>
        <p:spPr>
          <a:xfrm>
            <a:off x="5748725" y="4899012"/>
            <a:ext cx="694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Teq</a:t>
            </a:r>
            <a:endParaRPr 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4605670E-3745-4450-86CE-AF4751EB3C38}"/>
              </a:ext>
            </a:extLst>
          </p:cNvPr>
          <p:cNvSpPr txBox="1"/>
          <p:nvPr/>
        </p:nvSpPr>
        <p:spPr>
          <a:xfrm>
            <a:off x="9592543" y="4899012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Rho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82714EE7-4ED6-4125-8573-761F58ED4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32" y="1958988"/>
            <a:ext cx="3743433" cy="26077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xmlns="" id="{B2104F80-1D62-472E-9EF1-AA2529BC8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304" y="1958988"/>
            <a:ext cx="3901718" cy="26077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FACB4D70-AA54-45F5-A0E8-1761E536E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4697" y="1958988"/>
            <a:ext cx="3854232" cy="260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\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charset="0"/>
                              </a:rPr>
                              <m:t>epsilon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 rotWithShape="0"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xmlns="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 dirty="0"/>
              <a:t>Building the AR1 Matrix</a:t>
            </a:r>
          </a:p>
        </p:txBody>
      </p:sp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="" id="{10F566C3-3256-48D3-8ECD-339EEFC1A330}"/>
                  </a:ext>
                </a:extLst>
              </p:cNvPr>
              <p:cNvSpPr/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</a:t>
                </a:r>
                <a:r>
                  <a:rPr lang="en-US" sz="2800" dirty="0" smtClean="0"/>
                  <a:t>(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b="0" i="1" smtClean="0">
                        <a:latin typeface="Cambria Math" charset="0"/>
                      </a:rPr>
                      <m:t>)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  <a:blipFill rotWithShape="0"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xmlns="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319965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xmlns="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xmlns="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xmlns="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xmlns="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xmlns="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28721147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319965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r="-403008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r="-300000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r="-202256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r="-100746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r="-1504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98990" r="-403008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98990" r="-300000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98990" r="-202256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98990" r="-100746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98990" r="-1504" b="-2989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1020" r="-403008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1020" r="-300000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1020" r="-202256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1020" r="-100746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1020" r="-1504" b="-2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7980" r="-40300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7980" r="-30000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7980" r="-20225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7980" r="-10074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7980" r="-150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2041" r="-403008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2041" r="-300000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2041" r="-202256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2041" r="-100746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2041" r="-1504" b="-10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 smtClean="0"/>
              <a:t>That </a:t>
            </a:r>
            <a:r>
              <a:rPr lang="en-US" dirty="0"/>
              <a:t>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</a:t>
            </a:r>
            <a:r>
              <a:rPr lang="en-US" dirty="0" smtClean="0"/>
              <a:t>dependencies</a:t>
            </a:r>
          </a:p>
          <a:p>
            <a:pPr lvl="1"/>
            <a:r>
              <a:rPr lang="en-US" dirty="0"/>
              <a:t>show AR1 matrix with correlated uncertainties. </a:t>
            </a:r>
            <a:endParaRPr lang="en-US" dirty="0" smtClean="0"/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</a:t>
            </a:r>
            <a:r>
              <a:rPr lang="en-US" dirty="0" smtClean="0"/>
              <a:t>GMSL</a:t>
            </a:r>
            <a:endParaRPr lang="en-US" dirty="0"/>
          </a:p>
          <a:p>
            <a:r>
              <a:rPr lang="en-US" dirty="0" smtClean="0"/>
              <a:t>Use this better error structure than previous simulations and compare the differences with the new sea-level and temperature projections.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</a:t>
            </a:r>
            <a:r>
              <a:rPr lang="en-US" dirty="0" smtClean="0"/>
              <a:t>matrix with 0’s off the diagonal</a:t>
            </a:r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MCMC model which takes in sea-level values and gives us estimates on temperature </a:t>
            </a:r>
          </a:p>
          <a:p>
            <a:r>
              <a:rPr lang="en-US" dirty="0"/>
              <a:t>Combined and easy-to-use python script</a:t>
            </a:r>
          </a:p>
          <a:p>
            <a:r>
              <a:rPr lang="en-US" dirty="0"/>
              <a:t>AR1 matrix which includes correlated uncertainties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November </a:t>
            </a:r>
            <a:r>
              <a:rPr lang="mr-IN" dirty="0" smtClean="0"/>
              <a:t>–</a:t>
            </a:r>
            <a:endParaRPr lang="en-US" dirty="0" smtClean="0"/>
          </a:p>
          <a:p>
            <a:pPr lvl="1"/>
            <a:r>
              <a:rPr lang="en-US" dirty="0" smtClean="0"/>
              <a:t>DOECLIM + GMSL model coupling (no calibration)</a:t>
            </a:r>
            <a:endParaRPr lang="en-US" dirty="0" smtClean="0"/>
          </a:p>
          <a:p>
            <a:r>
              <a:rPr lang="en-US" dirty="0" smtClean="0"/>
              <a:t>December </a:t>
            </a:r>
            <a:r>
              <a:rPr lang="en-US" dirty="0"/>
              <a:t>– </a:t>
            </a:r>
            <a:endParaRPr lang="en-US" dirty="0" smtClean="0"/>
          </a:p>
          <a:p>
            <a:pPr lvl="1"/>
            <a:r>
              <a:rPr lang="en-US" dirty="0" smtClean="0"/>
              <a:t>Finish </a:t>
            </a:r>
            <a:r>
              <a:rPr lang="en-US" dirty="0"/>
              <a:t>combining DOECLIM model with the </a:t>
            </a:r>
            <a:r>
              <a:rPr lang="en-US" dirty="0" smtClean="0"/>
              <a:t>GMSL model and the calibration.</a:t>
            </a:r>
          </a:p>
          <a:p>
            <a:r>
              <a:rPr lang="en-US" dirty="0" smtClean="0"/>
              <a:t>Jan </a:t>
            </a:r>
            <a:r>
              <a:rPr lang="mr-IN" dirty="0" smtClean="0"/>
              <a:t>–</a:t>
            </a:r>
            <a:r>
              <a:rPr lang="en-US" dirty="0" smtClean="0"/>
              <a:t> April </a:t>
            </a:r>
            <a:r>
              <a:rPr lang="mr-IN" dirty="0" smtClean="0"/>
              <a:t>–</a:t>
            </a:r>
            <a:r>
              <a:rPr lang="en-US" dirty="0" smtClean="0"/>
              <a:t> Experiments and error </a:t>
            </a:r>
            <a:r>
              <a:rPr lang="en-US" smtClean="0"/>
              <a:t>checking along with write-up.</a:t>
            </a:r>
            <a:endParaRPr lang="en-US" dirty="0"/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681</TotalTime>
  <Words>954</Words>
  <Application>Microsoft Macintosh PowerPoint</Application>
  <PresentationFormat>Widescreen</PresentationFormat>
  <Paragraphs>118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Calibri</vt:lpstr>
      <vt:lpstr>Calibri Light</vt:lpstr>
      <vt:lpstr>Cambria Math</vt:lpstr>
      <vt:lpstr>Mangal</vt:lpstr>
      <vt:lpstr>Arial</vt:lpstr>
      <vt:lpstr>Office Theme</vt:lpstr>
      <vt:lpstr>Mid Semester Presentation</vt:lpstr>
      <vt:lpstr>Primary Goal</vt:lpstr>
      <vt:lpstr>Sea-level Change</vt:lpstr>
      <vt:lpstr>PowerPoint Presentation</vt:lpstr>
      <vt:lpstr>NOAA Data</vt:lpstr>
      <vt:lpstr>Equations -</vt:lpstr>
      <vt:lpstr>Calibrating the model to the data</vt:lpstr>
      <vt:lpstr>The MCMC chain</vt:lpstr>
      <vt:lpstr>History Plots</vt:lpstr>
      <vt:lpstr>Gelman-Rubin Diagnostic</vt:lpstr>
      <vt:lpstr>Building the AR1 Matrix</vt:lpstr>
      <vt:lpstr>AR1 Matrix</vt:lpstr>
      <vt:lpstr>PowerPoint Presentation</vt:lpstr>
      <vt:lpstr>What’s been done -</vt:lpstr>
      <vt:lpstr>Future Timeline</vt:lpstr>
    </vt:vector>
  </TitlesOfParts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Anthony E Wong</cp:lastModifiedBy>
  <cp:revision>62</cp:revision>
  <dcterms:created xsi:type="dcterms:W3CDTF">2018-10-19T18:36:10Z</dcterms:created>
  <dcterms:modified xsi:type="dcterms:W3CDTF">2018-10-24T23:38:26Z</dcterms:modified>
</cp:coreProperties>
</file>