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6" r:id="rId2"/>
    <p:sldId id="261" r:id="rId3"/>
    <p:sldId id="276" r:id="rId4"/>
    <p:sldId id="269" r:id="rId5"/>
    <p:sldId id="264" r:id="rId6"/>
    <p:sldId id="268" r:id="rId7"/>
    <p:sldId id="262" r:id="rId8"/>
    <p:sldId id="274" r:id="rId9"/>
    <p:sldId id="270" r:id="rId10"/>
    <p:sldId id="272" r:id="rId11"/>
    <p:sldId id="273" r:id="rId12"/>
    <p:sldId id="267" r:id="rId13"/>
    <p:sldId id="271" r:id="rId14"/>
    <p:sldId id="275" r:id="rId15"/>
    <p:sldId id="257" r:id="rId16"/>
    <p:sldId id="259" r:id="rId17"/>
    <p:sldId id="26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hony E Wong" initials="AEW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7" autoAdjust="0"/>
    <p:restoredTop sz="94655"/>
  </p:normalViewPr>
  <p:slideViewPr>
    <p:cSldViewPr snapToGrid="0">
      <p:cViewPr varScale="1">
        <p:scale>
          <a:sx n="57" d="100"/>
          <a:sy n="57" d="100"/>
        </p:scale>
        <p:origin x="96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960FA-F8F2-8342-92CA-A28CCF2F2744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97451-DD4C-6845-B353-833DB10F4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97451-DD4C-6845-B353-833DB10F4A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1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legend,</a:t>
            </a:r>
            <a:r>
              <a:rPr lang="en-US" baseline="0" dirty="0"/>
              <a:t> reference.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97451-DD4C-6845-B353-833DB10F4A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7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this slide. Replace with RCP scenario plot and discussion (Moss et al 2010 pdf from tony)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97451-DD4C-6845-B353-833DB10F4A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25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connection between radiative forcing</a:t>
            </a:r>
            <a:r>
              <a:rPr lang="en-US" baseline="0" dirty="0"/>
              <a:t> and this slide.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97451-DD4C-6845-B353-833DB10F4A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1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reference to </a:t>
            </a:r>
            <a:r>
              <a:rPr lang="en-US" dirty="0" err="1"/>
              <a:t>Rahmstorf</a:t>
            </a:r>
            <a:r>
              <a:rPr lang="en-US" dirty="0"/>
              <a:t> 2007 (Science paper)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97451-DD4C-6845-B353-833DB10F4A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18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characterize the uncertainty on our projections. </a:t>
            </a:r>
            <a:r>
              <a:rPr lang="en-US" dirty="0" err="1"/>
              <a:t>sigma_i</a:t>
            </a:r>
            <a:r>
              <a:rPr lang="en-US" dirty="0"/>
              <a:t> in figure (likelihood). Change</a:t>
            </a:r>
            <a:r>
              <a:rPr lang="en-US" baseline="0" dirty="0"/>
              <a:t> likelihood to include AR1 sigma.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97451-DD4C-6845-B353-833DB10F4A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show the residual</a:t>
            </a:r>
            <a:r>
              <a:rPr lang="en-US" baseline="0" dirty="0"/>
              <a:t> </a:t>
            </a:r>
            <a:r>
              <a:rPr lang="en-US" dirty="0"/>
              <a:t>equation</a:t>
            </a:r>
            <a:r>
              <a:rPr lang="en-US" baseline="0" dirty="0"/>
              <a:t> for AR1.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97451-DD4C-6845-B353-833DB10F4A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07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D684-9960-4710-AFCC-716D94063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Bahnschrif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9D10A-223E-446A-BD73-587C8BD37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54030-5DDB-4B2A-A339-D70D14B3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4DF1F-40E1-4941-8613-2182A8D1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03115-496D-4124-835B-1B13337C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4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3CAC-8101-4C91-A669-80C09809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B33BC-6595-4BDF-84BF-3A09AB663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5B9E3-7991-426A-B617-91AD1053A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fld id="{43CEAD56-E5CE-4A48-BE26-3F874B3EFFB2}" type="datetimeFigureOut">
              <a:rPr lang="en-US" smtClean="0"/>
              <a:pPr/>
              <a:t>10/25/2018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A8710-9730-4DA2-834C-6FF7F807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B1668-8539-4E7C-85F9-102009D4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fld id="{4DC36BF6-A249-4B54-A7AC-5D17690532D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close up of a sign&#10;&#10;Description generated with high confidence">
            <a:extLst>
              <a:ext uri="{FF2B5EF4-FFF2-40B4-BE49-F238E27FC236}">
                <a16:creationId xmlns:a16="http://schemas.microsoft.com/office/drawing/2014/main" id="{F56C89C9-57C3-422E-ACD9-933F1BF4C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056" y="550084"/>
            <a:ext cx="989487" cy="95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2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E265-DA4F-40E6-9EEE-026624B0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81E34-19E9-4617-B42C-D0105C86D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8E5C-3D51-445A-AD9F-9957DF6A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468B0-9ADB-4CF9-A1F7-D9D9A735C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AADE1-66B5-4040-A491-EA936CD7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BB2B-2AE4-4C3C-BCCB-64EF58B5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44EF8-7617-4C9B-B8CE-1FFE0998E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27334-0329-4E87-8846-E729CD66A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39559-D3DB-4DF5-9828-35813139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B35CC-EAB4-4B00-BD12-A45514C7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E135-CA40-4987-B16F-F82A7B22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5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FE84-5043-4FB3-90D1-A68220C9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15D7D-57C6-42AF-8DAA-28AC9665B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A166A-BB30-439B-8634-7F0CEC2FE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E7921-A9C5-4535-97D9-BC847906E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DA552-E26C-4625-B5CB-F502D9FB5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4FEF0-02F9-4D88-9494-4F3109B6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8F848-4294-44C2-871F-256B4E495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DF4AE-E05C-4C58-BCB4-8E48B2BC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0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4ADA-7D87-4F08-AC95-6ECB0D44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B6DBB-F685-4ECF-8432-7066E27C6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B579E-E71F-4B93-83F3-79DB15CE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3CC85-E405-43F1-A45F-088AD399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3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F2744-9A09-4A3A-81CB-C2355FF8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BD100-7C63-48C4-B9EC-15E3B668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BAAA7-9A70-431A-AF0D-91635362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5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8785-FF9C-40EE-96C5-4156E76F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31A7-B85A-437F-B546-E951C8612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34E88-6139-40D2-AE10-7757907A3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B43E8-9518-46F1-9326-18E8DA3E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D5361-30DF-4949-8508-01B18AE4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2A971-4769-45F0-A0D3-C194BD25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8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8260-8A27-4A3B-AADC-0D418F9E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CAAA9-4A28-480F-89AB-CC5B92121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3FCFF-8324-4EFE-93F0-7698288B1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46B3F-4EB5-474C-966A-E217E0B0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2E246-210E-4874-9A38-5A68CDAE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020F8-919F-4DBE-8348-1A327A4B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3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977B-9833-40F6-8CAA-D94F62DD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AD966-59ED-4DE1-8ECF-1B4B4CF6B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334FD-A943-46AB-9FF6-7833D646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06AED-B522-4ABE-B1D2-52CCC313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A2E61-4845-444E-A3ED-5D1C5427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3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34143-25A3-41A7-A795-33F64F5A2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22171-E004-4275-8647-0923AF1C4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9405-9274-457B-934C-C11D3D72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8D3E-2F1B-45EF-A1F7-CCF3E4B3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90C26-677E-4EE7-B2A7-7BB86EEF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3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E0C88-9068-4B00-BF05-3EA4EEB3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C6975-5406-453F-A3DF-7169DE295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658DA-7F2A-4184-9536-1CCD65D1E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EAD56-E5CE-4A48-BE26-3F874B3EFFB2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B6C9-3028-4ADF-81FA-CB1511723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17902-2357-4FCC-B113-F8E32ABDC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6BF6-A249-4B54-A7AC-5D1769053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2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EDC7E-AB10-433C-949E-719BCAAC7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Mid Semester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45BBF-C756-495B-99D7-71EE3A06F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H. Nihar Nandan</a:t>
            </a:r>
          </a:p>
        </p:txBody>
      </p:sp>
    </p:spTree>
    <p:extLst>
      <p:ext uri="{BB962C8B-B14F-4D97-AF65-F5344CB8AC3E}">
        <p14:creationId xmlns:p14="http://schemas.microsoft.com/office/powerpoint/2010/main" val="26680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E6EA-3F5C-474F-A7EA-28C968D9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0AD4E-D176-421B-BC59-33FB77F4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impact on the environment continues to grow on a global scale, as the increasing land and water use and the rising concentrations of greenhouse gases in the atmosphere show. We can measure this impact by calculating the radiative forcing.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2EAE1-821A-4B72-8427-5C229E34A29B}"/>
              </a:ext>
            </a:extLst>
          </p:cNvPr>
          <p:cNvSpPr txBox="1"/>
          <p:nvPr/>
        </p:nvSpPr>
        <p:spPr>
          <a:xfrm>
            <a:off x="6446251" y="4008157"/>
            <a:ext cx="525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Radiative forcing - is the difference between insolation (sunlight) absorbed by the Earth and energy radiated back to space.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E7C165-7543-4178-BBDD-3967AB63B6C3}"/>
              </a:ext>
            </a:extLst>
          </p:cNvPr>
          <p:cNvGrpSpPr/>
          <p:nvPr/>
        </p:nvGrpSpPr>
        <p:grpSpPr>
          <a:xfrm>
            <a:off x="318612" y="3556000"/>
            <a:ext cx="6115686" cy="3159971"/>
            <a:chOff x="0" y="0"/>
            <a:chExt cx="12192000" cy="6858000"/>
          </a:xfrm>
        </p:grpSpPr>
        <p:pic>
          <p:nvPicPr>
            <p:cNvPr id="8" name="Picture 7" descr="A close up of a beach&#10;&#10;Description generated with high confidence">
              <a:extLst>
                <a:ext uri="{FF2B5EF4-FFF2-40B4-BE49-F238E27FC236}">
                  <a16:creationId xmlns:a16="http://schemas.microsoft.com/office/drawing/2014/main" id="{AE53D155-7F4B-47D8-8A35-E288DAAD6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17079B-A5F3-475F-848F-B0B52AD2E559}"/>
                </a:ext>
              </a:extLst>
            </p:cNvPr>
            <p:cNvSpPr txBox="1"/>
            <p:nvPr/>
          </p:nvSpPr>
          <p:spPr>
            <a:xfrm>
              <a:off x="9247228" y="5991198"/>
              <a:ext cx="13908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DEEP OCEAN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CB96F6-6A65-4740-85DF-DBCE009DE8B4}"/>
                </a:ext>
              </a:extLst>
            </p:cNvPr>
            <p:cNvSpPr txBox="1"/>
            <p:nvPr/>
          </p:nvSpPr>
          <p:spPr>
            <a:xfrm>
              <a:off x="9516533" y="5029199"/>
              <a:ext cx="85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OCEAN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32EE01-46DA-480A-B288-DF58F95AF23C}"/>
                </a:ext>
              </a:extLst>
            </p:cNvPr>
            <p:cNvSpPr txBox="1"/>
            <p:nvPr/>
          </p:nvSpPr>
          <p:spPr>
            <a:xfrm>
              <a:off x="626533" y="3776133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D9AB01F-CD89-4E95-95E8-A94CC39888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7867" y="1651000"/>
              <a:ext cx="1405466" cy="4529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831B2DE-7B90-43F6-BB73-CE742A952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4333" y="2269066"/>
              <a:ext cx="1193801" cy="7789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ADAF8C-B7BC-465E-A457-D4E70A582E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8299" y="2666999"/>
              <a:ext cx="736600" cy="12599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220945-813C-4100-B4E8-49043195E363}"/>
                </a:ext>
              </a:extLst>
            </p:cNvPr>
            <p:cNvSpPr txBox="1"/>
            <p:nvPr/>
          </p:nvSpPr>
          <p:spPr>
            <a:xfrm>
              <a:off x="8271556" y="1745501"/>
              <a:ext cx="15667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ENERGY FROM</a:t>
              </a:r>
            </a:p>
            <a:p>
              <a:pPr algn="ctr"/>
              <a:r>
                <a:rPr lang="en-US" dirty="0"/>
                <a:t>SUN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BE2834-BD8A-49B2-BD33-A893440FD714}"/>
                </a:ext>
              </a:extLst>
            </p:cNvPr>
            <p:cNvSpPr/>
            <p:nvPr/>
          </p:nvSpPr>
          <p:spPr>
            <a:xfrm>
              <a:off x="0" y="3429000"/>
              <a:ext cx="12192000" cy="367268"/>
            </a:xfrm>
            <a:prstGeom prst="rect">
              <a:avLst/>
            </a:prstGeom>
            <a:solidFill>
              <a:srgbClr val="7F7F7F">
                <a:alpha val="20000"/>
              </a:srgb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AEROSOL LAYER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7322AAD-19C8-4AEB-9E7D-2FCD07414E7C}"/>
                </a:ext>
              </a:extLst>
            </p:cNvPr>
            <p:cNvCxnSpPr>
              <a:cxnSpLocks/>
            </p:cNvCxnSpPr>
            <p:nvPr/>
          </p:nvCxnSpPr>
          <p:spPr>
            <a:xfrm>
              <a:off x="9908776" y="5398531"/>
              <a:ext cx="0" cy="592667"/>
            </a:xfrm>
            <a:prstGeom prst="straightConnector1">
              <a:avLst/>
            </a:prstGeom>
            <a:ln w="57150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BC1E01-291C-48EF-9B85-E906809ADB82}"/>
                </a:ext>
              </a:extLst>
            </p:cNvPr>
            <p:cNvSpPr/>
            <p:nvPr/>
          </p:nvSpPr>
          <p:spPr>
            <a:xfrm>
              <a:off x="3674533" y="6158931"/>
              <a:ext cx="4597023" cy="5466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RADIATIVE ENERGY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58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4F87-0806-4F3D-B4DC-063BF276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8DE16-C4CA-40DD-8257-596CBBBD7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be able to model the sea-level rise but we also want to account for the uncertainties with correlated parameters. </a:t>
            </a:r>
          </a:p>
        </p:txBody>
      </p:sp>
    </p:spTree>
    <p:extLst>
      <p:ext uri="{BB962C8B-B14F-4D97-AF65-F5344CB8AC3E}">
        <p14:creationId xmlns:p14="http://schemas.microsoft.com/office/powerpoint/2010/main" val="188893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ADDB-45DD-488E-AE69-0F8F7507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Sea-level Change</a:t>
            </a:r>
          </a:p>
        </p:txBody>
      </p:sp>
      <p:pic>
        <p:nvPicPr>
          <p:cNvPr id="4" name="Picture 2" descr="http://science.sciencemag.org/content/sci/315/5810/368/F3.large.jpg?width=800&amp;height=600&amp;carousel=1">
            <a:extLst>
              <a:ext uri="{FF2B5EF4-FFF2-40B4-BE49-F238E27FC236}">
                <a16:creationId xmlns:a16="http://schemas.microsoft.com/office/drawing/2014/main" id="{133AE4AD-3332-44F1-88CD-AAFAC8B6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53372"/>
            <a:ext cx="3839325" cy="487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916D68-5816-4CE5-877F-89CD9333233B}"/>
              </a:ext>
            </a:extLst>
          </p:cNvPr>
          <p:cNvSpPr txBox="1"/>
          <p:nvPr/>
        </p:nvSpPr>
        <p:spPr>
          <a:xfrm>
            <a:off x="5181600" y="1315454"/>
            <a:ext cx="6172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DOECLIM and GMSL model: the two of these combined gives a simplified model for how radiative forcing affect temperatures and in turn affects sea level.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ACD87-10C4-43ED-A554-2DF860F7584B}"/>
              </a:ext>
            </a:extLst>
          </p:cNvPr>
          <p:cNvSpPr txBox="1"/>
          <p:nvPr/>
        </p:nvSpPr>
        <p:spPr>
          <a:xfrm>
            <a:off x="5181600" y="3753853"/>
            <a:ext cx="6172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DOECLIM – Diffusion Ocean Energy Climate Model</a:t>
            </a:r>
          </a:p>
          <a:p>
            <a:r>
              <a:rPr lang="en-US" sz="2800" dirty="0"/>
              <a:t>GMSL – Global mean sea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ECA5B-B176-48F1-92CB-907CDCC12288}"/>
              </a:ext>
            </a:extLst>
          </p:cNvPr>
          <p:cNvSpPr/>
          <p:nvPr/>
        </p:nvSpPr>
        <p:spPr>
          <a:xfrm>
            <a:off x="1756554" y="6334780"/>
            <a:ext cx="25992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Rahmstorf</a:t>
            </a:r>
            <a:r>
              <a:rPr lang="en-US" sz="2800" dirty="0"/>
              <a:t> 2007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C9AF7-1F91-4E88-B465-6B16353280A0}"/>
              </a:ext>
            </a:extLst>
          </p:cNvPr>
          <p:cNvSpPr txBox="1"/>
          <p:nvPr/>
        </p:nvSpPr>
        <p:spPr>
          <a:xfrm>
            <a:off x="5181600" y="5242289"/>
            <a:ext cx="64845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  <a:p>
            <a:r>
              <a:rPr lang="en-US" dirty="0"/>
              <a:t>Red - Rate of sea-level rise obtained from tide gauge observations </a:t>
            </a:r>
          </a:p>
          <a:p>
            <a:r>
              <a:rPr lang="en-US" dirty="0"/>
              <a:t>Blue band - the statistical error</a:t>
            </a:r>
          </a:p>
          <a:p>
            <a:r>
              <a:rPr lang="en-US" dirty="0"/>
              <a:t>(2)</a:t>
            </a:r>
          </a:p>
          <a:p>
            <a:r>
              <a:rPr lang="en-US" dirty="0"/>
              <a:t>Red squares - unsmoothed, annual sea-level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654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A10F1E-4D5A-4DA1-AB1A-19125F698D7B}"/>
              </a:ext>
            </a:extLst>
          </p:cNvPr>
          <p:cNvSpPr txBox="1"/>
          <p:nvPr/>
        </p:nvSpPr>
        <p:spPr>
          <a:xfrm>
            <a:off x="4851267" y="6334780"/>
            <a:ext cx="24894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Moss et al 2010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E00FFC-D0B5-4BAF-9314-F13EBF934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55" y="1537753"/>
            <a:ext cx="10464489" cy="462915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F3DFA6D-0FB0-421D-B899-7DF21260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radiative forcing in difference scenarios</a:t>
            </a:r>
          </a:p>
        </p:txBody>
      </p:sp>
    </p:spTree>
    <p:extLst>
      <p:ext uri="{BB962C8B-B14F-4D97-AF65-F5344CB8AC3E}">
        <p14:creationId xmlns:p14="http://schemas.microsoft.com/office/powerpoint/2010/main" val="165593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D8FB-57DD-4729-A59E-332E30E6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NOAA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B7D39-4248-42E8-9C50-36770C958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7559"/>
            <a:ext cx="12176871" cy="26532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FBE051-D5F9-400C-9044-F20FB63B77D2}"/>
              </a:ext>
            </a:extLst>
          </p:cNvPr>
          <p:cNvSpPr txBox="1"/>
          <p:nvPr/>
        </p:nvSpPr>
        <p:spPr>
          <a:xfrm>
            <a:off x="838200" y="1491916"/>
            <a:ext cx="8626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NOAA -National Oceanic and Atmospheric Administration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FAF36-E8CB-41DB-8D00-5232CF576800}"/>
              </a:ext>
            </a:extLst>
          </p:cNvPr>
          <p:cNvSpPr txBox="1"/>
          <p:nvPr/>
        </p:nvSpPr>
        <p:spPr>
          <a:xfrm>
            <a:off x="524933" y="5130801"/>
            <a:ext cx="111421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hnschrift" panose="020B0502040204020203" pitchFamily="34" charset="0"/>
              </a:rPr>
              <a:t>We can see how an increase in radiative forcing has caused an increase in global mean temperatures and global mean sea-levels over the years.</a:t>
            </a:r>
          </a:p>
        </p:txBody>
      </p:sp>
    </p:spTree>
    <p:extLst>
      <p:ext uri="{BB962C8B-B14F-4D97-AF65-F5344CB8AC3E}">
        <p14:creationId xmlns:p14="http://schemas.microsoft.com/office/powerpoint/2010/main" val="229332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2747-C860-4886-B9BB-651841A1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 to model Sea-level Rise 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20C92-7700-40CA-979E-55B1448F29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First order forward Euler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20C92-7700-40CA-979E-55B1448F2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CFA646-A8F0-440F-9C5E-CC11B4AD2484}"/>
                  </a:ext>
                </a:extLst>
              </p:cNvPr>
              <p:cNvSpPr txBox="1"/>
              <p:nvPr/>
            </p:nvSpPr>
            <p:spPr>
              <a:xfrm>
                <a:off x="1418647" y="3974943"/>
                <a:ext cx="6281335" cy="1849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– </a:t>
                </a:r>
                <a:r>
                  <a:rPr lang="en-US" sz="2800" dirty="0" err="1"/>
                  <a:t>Sealevel</a:t>
                </a:r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/>
                  <a:t> – time</a:t>
                </a:r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/>
                  <a:t>– global mean temperature at time 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US" sz="2800" dirty="0"/>
                  <a:t> – Temperature equilibrium value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CFA646-A8F0-440F-9C5E-CC11B4AD2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647" y="3974943"/>
                <a:ext cx="6281335" cy="1849096"/>
              </a:xfrm>
              <a:prstGeom prst="rect">
                <a:avLst/>
              </a:prstGeom>
              <a:blipFill>
                <a:blip r:embed="rId4"/>
                <a:stretch>
                  <a:fillRect t="-2970" r="-971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7854C55-13CD-4BBF-B60B-D4D6820F6AD7}"/>
              </a:ext>
            </a:extLst>
          </p:cNvPr>
          <p:cNvSpPr/>
          <p:nvPr/>
        </p:nvSpPr>
        <p:spPr>
          <a:xfrm>
            <a:off x="4559315" y="6231264"/>
            <a:ext cx="25992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Rahmstorf</a:t>
            </a:r>
            <a:r>
              <a:rPr lang="en-US" sz="2800" dirty="0"/>
              <a:t> 2007 </a:t>
            </a:r>
          </a:p>
        </p:txBody>
      </p:sp>
    </p:spTree>
    <p:extLst>
      <p:ext uri="{BB962C8B-B14F-4D97-AF65-F5344CB8AC3E}">
        <p14:creationId xmlns:p14="http://schemas.microsoft.com/office/powerpoint/2010/main" val="2226758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Calibrating the model to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Temperature (from DOECLIM)</a:t>
            </a:r>
          </a:p>
          <a:p>
            <a:r>
              <a:rPr lang="en-US" dirty="0"/>
              <a:t>Ocean heat (from DOECLIM)</a:t>
            </a:r>
          </a:p>
          <a:p>
            <a:r>
              <a:rPr lang="en-US" dirty="0"/>
              <a:t>Sea-level (from GMSL)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Data: Temperature (forcing, NOAA), Sea-level: (calibration)</a:t>
            </a:r>
          </a:p>
          <a:p>
            <a:r>
              <a:rPr lang="en-US" dirty="0"/>
              <a:t>Calibrate the model using the above data. </a:t>
            </a:r>
          </a:p>
          <a:p>
            <a:r>
              <a:rPr lang="en-US" dirty="0"/>
              <a:t>We have to design a likelihood function using these data sets. </a:t>
            </a:r>
          </a:p>
        </p:txBody>
      </p:sp>
    </p:spTree>
    <p:extLst>
      <p:ext uri="{BB962C8B-B14F-4D97-AF65-F5344CB8AC3E}">
        <p14:creationId xmlns:p14="http://schemas.microsoft.com/office/powerpoint/2010/main" val="1804938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4BCA-1476-44E9-9C18-A6E94B4B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MCMC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E30CB-2A89-4421-B4B2-A205423C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700"/>
            <a:ext cx="10515600" cy="50201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want to sample parameters from the posterior distribution. Simple Bayes’ likelihood function. </a:t>
            </a:r>
          </a:p>
          <a:p>
            <a:r>
              <a:rPr lang="en-US" dirty="0"/>
              <a:t>We want accurate projections, but along with the projections we also want to characterize the uncertainties</a:t>
            </a:r>
          </a:p>
          <a:p>
            <a:r>
              <a:rPr lang="en-US" dirty="0"/>
              <a:t>We’re doing this using MCMC chains - </a:t>
            </a:r>
          </a:p>
          <a:p>
            <a:r>
              <a:rPr lang="en-US" dirty="0"/>
              <a:t>5 parameters in our MCMC chain –</a:t>
            </a:r>
          </a:p>
          <a:p>
            <a:pPr lvl="1"/>
            <a:r>
              <a:rPr lang="en-US" dirty="0"/>
              <a:t>Alpha (Sea-level sensitivity to changes in temp.)</a:t>
            </a:r>
          </a:p>
          <a:p>
            <a:pPr lvl="1"/>
            <a:r>
              <a:rPr lang="en-US" dirty="0"/>
              <a:t>Temperature Equilibrium</a:t>
            </a:r>
          </a:p>
          <a:p>
            <a:pPr lvl="1"/>
            <a:r>
              <a:rPr lang="en-US" dirty="0"/>
              <a:t>Initial sea level value of model</a:t>
            </a:r>
          </a:p>
          <a:p>
            <a:pPr lvl="1"/>
            <a:r>
              <a:rPr lang="en-US" dirty="0"/>
              <a:t>Rho (Uncertainty in sea-level estimates)</a:t>
            </a:r>
          </a:p>
          <a:p>
            <a:pPr lvl="1"/>
            <a:r>
              <a:rPr lang="en-US" dirty="0"/>
              <a:t>Uncertainty in AR1 matrix</a:t>
            </a:r>
          </a:p>
          <a:p>
            <a:r>
              <a:rPr lang="en-US" dirty="0"/>
              <a:t>The data that we use for the calibration are the sea-levels from the NOAA dataset. </a:t>
            </a:r>
          </a:p>
          <a:p>
            <a:r>
              <a:rPr lang="en-US" dirty="0"/>
              <a:t>Log-Likelihood function -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E556E6-B722-4995-B48A-ED5CF03E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49" y="5689055"/>
            <a:ext cx="7024453" cy="66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0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4237-8385-439A-86D4-DF3515A0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History Plots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EE7A77-4376-450F-8C0E-A6079501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55" y="1349191"/>
            <a:ext cx="3473992" cy="2420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D5F3BB-1A80-454D-988D-E1D4750E9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202" y="1348137"/>
            <a:ext cx="3620884" cy="2420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517AD-6F2D-482B-A2A2-DBFCFE917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005" y="1348136"/>
            <a:ext cx="3598850" cy="2420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FDAC70-70FF-4429-A93D-5C9D453C7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6936" y="4259095"/>
            <a:ext cx="3536421" cy="2420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3E2F94-9BEE-4A5A-9D8F-3714FCD52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8794" y="4259094"/>
            <a:ext cx="3536421" cy="2420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194B80-F244-40FF-A5C8-55B989FC9477}"/>
              </a:ext>
            </a:extLst>
          </p:cNvPr>
          <p:cNvSpPr txBox="1"/>
          <p:nvPr/>
        </p:nvSpPr>
        <p:spPr>
          <a:xfrm>
            <a:off x="1661041" y="3887150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Alpha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5CBA2A-2779-420C-9290-9411B3CBEF2A}"/>
              </a:ext>
            </a:extLst>
          </p:cNvPr>
          <p:cNvSpPr txBox="1"/>
          <p:nvPr/>
        </p:nvSpPr>
        <p:spPr>
          <a:xfrm>
            <a:off x="9383991" y="3887150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S_0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69EBA6-772E-4E9B-AE88-4848CE327154}"/>
              </a:ext>
            </a:extLst>
          </p:cNvPr>
          <p:cNvSpPr txBox="1"/>
          <p:nvPr/>
        </p:nvSpPr>
        <p:spPr>
          <a:xfrm>
            <a:off x="5565205" y="3887150"/>
            <a:ext cx="51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Teq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667A8B-0417-4A01-9DB5-122C4BA2363F}"/>
              </a:ext>
            </a:extLst>
          </p:cNvPr>
          <p:cNvSpPr txBox="1"/>
          <p:nvPr/>
        </p:nvSpPr>
        <p:spPr>
          <a:xfrm>
            <a:off x="946621" y="5099783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Rho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C27530-6180-4F47-885E-AD6A062AB9BB}"/>
              </a:ext>
            </a:extLst>
          </p:cNvPr>
          <p:cNvSpPr txBox="1"/>
          <p:nvPr/>
        </p:nvSpPr>
        <p:spPr>
          <a:xfrm>
            <a:off x="10200652" y="4961283"/>
            <a:ext cx="1566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Uncertainty in </a:t>
            </a:r>
          </a:p>
          <a:p>
            <a:r>
              <a:rPr lang="en-US" dirty="0"/>
              <a:t>AR1 Matrix</a:t>
            </a:r>
          </a:p>
        </p:txBody>
      </p:sp>
    </p:spTree>
    <p:extLst>
      <p:ext uri="{BB962C8B-B14F-4D97-AF65-F5344CB8AC3E}">
        <p14:creationId xmlns:p14="http://schemas.microsoft.com/office/powerpoint/2010/main" val="3257756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D8FD-5E3D-4045-B506-E80DB994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Gelman-Rubin Diagnostic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618CFB-AD78-42C9-ABE2-65EC09539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368" y="1644785"/>
            <a:ext cx="6577263" cy="460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C42D-2B0E-4A61-B209-7B875EE7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AR1 Matrix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9751B2-D479-42C9-BDDE-01F72208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9296"/>
            <a:ext cx="10515600" cy="1363579"/>
          </a:xfrm>
        </p:spPr>
        <p:txBody>
          <a:bodyPr/>
          <a:lstStyle/>
          <a:p>
            <a:r>
              <a:rPr lang="en-US" dirty="0"/>
              <a:t>In the AR1 Matrix, we account for sea levels, but we want to account for the uncertainties for temperatures and ocean heat along with the correlated residuals.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0F566C3-3256-48D3-8ECD-339EEFC1A330}"/>
                  </a:ext>
                </a:extLst>
              </p:cNvPr>
              <p:cNvSpPr/>
              <p:nvPr/>
            </p:nvSpPr>
            <p:spPr>
              <a:xfrm>
                <a:off x="1494693" y="2922589"/>
                <a:ext cx="4042508" cy="531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800" dirty="0"/>
                  <a:t>/(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1−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b="0" i="1" smtClean="0">
                        <a:latin typeface="Cambria Math" charset="0"/>
                      </a:rPr>
                      <m:t>)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0F566C3-3256-48D3-8ECD-339EEFC1A3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93" y="2922589"/>
                <a:ext cx="4042508" cy="531428"/>
              </a:xfrm>
              <a:prstGeom prst="rect">
                <a:avLst/>
              </a:prstGeom>
              <a:blipFill rotWithShape="0">
                <a:blip r:embed="rId2"/>
                <a:stretch>
                  <a:fillRect t="-9091" b="-30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2A87B87-38A0-4161-B399-FC28948DD2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389518"/>
                  </p:ext>
                </p:extLst>
              </p:nvPr>
            </p:nvGraphicFramePr>
            <p:xfrm>
              <a:off x="5537200" y="1690688"/>
              <a:ext cx="4064000" cy="29952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405616653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7731119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3758000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11005369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661254295"/>
                        </a:ext>
                      </a:extLst>
                    </a:gridCol>
                  </a:tblGrid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01954663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02998512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0008321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821898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1147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2A87B87-38A0-4161-B399-FC28948DD2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389518"/>
                  </p:ext>
                </p:extLst>
              </p:nvPr>
            </p:nvGraphicFramePr>
            <p:xfrm>
              <a:off x="5537200" y="1690688"/>
              <a:ext cx="4064000" cy="29952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405616653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7731119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3758000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11005369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661254295"/>
                        </a:ext>
                      </a:extLst>
                    </a:gridCol>
                  </a:tblGrid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52" t="-1020" r="-403759" b="-4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020" r="-300746" b="-4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04" t="-1020" r="-203008" b="-4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54" t="-1020" r="-101493" b="-4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256" t="-1020" r="-2256" b="-4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1954663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52" t="-100000" r="-40375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00000" r="-30074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04" t="-100000" r="-20300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54" t="-100000" r="-10149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256" t="-100000" r="-225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2998512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52" t="-202041" r="-403759" b="-2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202041" r="-300746" b="-2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04" t="-202041" r="-203008" b="-2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54" t="-202041" r="-101493" b="-2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256" t="-202041" r="-2256" b="-2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008321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52" t="-298990" r="-403759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298990" r="-300746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04" t="-298990" r="-203008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54" t="-298990" r="-101493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256" t="-298990" r="-2256" b="-101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821898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52" t="-403061" r="-403759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403061" r="-300746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04" t="-403061" r="-20300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54" t="-403061" r="-101493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2256" t="-403061" r="-2256" b="-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1147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829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0C3B-DFF3-4036-B0AB-47526A61F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Till now we’ve only done a model on the GMSL with a historical temperature data forcing the model with an AR1 process which has a single uncertainty parameter. </a:t>
            </a:r>
          </a:p>
          <a:p>
            <a:r>
              <a:rPr lang="en-US" dirty="0"/>
              <a:t>That work (and all others) assumed different data sets’ errors are independent. </a:t>
            </a:r>
          </a:p>
          <a:p>
            <a:pPr lvl="1"/>
            <a:r>
              <a:rPr lang="en-US" dirty="0"/>
              <a:t>The advance we want to make is accounting for these dependencies</a:t>
            </a:r>
          </a:p>
          <a:p>
            <a:pPr lvl="1"/>
            <a:r>
              <a:rPr lang="en-US" dirty="0"/>
              <a:t>show AR1 matrix with correlated uncertainties. </a:t>
            </a:r>
          </a:p>
          <a:p>
            <a:r>
              <a:rPr lang="en-US" dirty="0"/>
              <a:t>Previous work with </a:t>
            </a:r>
            <a:r>
              <a:rPr lang="en-US" dirty="0" err="1"/>
              <a:t>DOECLIM+Rahmstorf</a:t>
            </a:r>
            <a:r>
              <a:rPr lang="en-US" dirty="0"/>
              <a:t> GMSL</a:t>
            </a:r>
          </a:p>
          <a:p>
            <a:r>
              <a:rPr lang="en-US" dirty="0"/>
              <a:t>Use this better error structure than previous simulations and compare the differences with the new sea-level and temperature projections.  </a:t>
            </a:r>
          </a:p>
        </p:txBody>
      </p:sp>
    </p:spTree>
    <p:extLst>
      <p:ext uri="{BB962C8B-B14F-4D97-AF65-F5344CB8AC3E}">
        <p14:creationId xmlns:p14="http://schemas.microsoft.com/office/powerpoint/2010/main" val="406993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A126C-3ADC-4275-8446-6A01EEAE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AR1 Matrix with correlated uncertainties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BDCAB5F-0ECA-459D-9B22-2763CDA254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39143"/>
                  </p:ext>
                </p:extLst>
              </p:nvPr>
            </p:nvGraphicFramePr>
            <p:xfrm>
              <a:off x="2573867" y="2530431"/>
              <a:ext cx="2438400" cy="17971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405616653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7731119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37580007"/>
                        </a:ext>
                      </a:extLst>
                    </a:gridCol>
                  </a:tblGrid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𝑆𝐿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01954663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02998512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00083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BDCAB5F-0ECA-459D-9B22-2763CDA254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39143"/>
                  </p:ext>
                </p:extLst>
              </p:nvPr>
            </p:nvGraphicFramePr>
            <p:xfrm>
              <a:off x="2573867" y="2530431"/>
              <a:ext cx="2438400" cy="17971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405616653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7731119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37580007"/>
                        </a:ext>
                      </a:extLst>
                    </a:gridCol>
                  </a:tblGrid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46" t="-1020" r="-200746" b="-2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504" t="-1020" r="-102256" b="-2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020" r="-1493" b="-2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1954663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46" t="-100000" r="-200746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504" t="-100000" r="-102256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00000" r="-1493" b="-101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2998512"/>
                      </a:ext>
                    </a:extLst>
                  </a:tr>
                  <a:tr h="599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46" t="-202041" r="-200746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504" t="-202041" r="-102256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202041" r="-1493" b="-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0083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3035F8-57A6-4FA2-B23C-B65122E7DBE8}"/>
                  </a:ext>
                </a:extLst>
              </p:cNvPr>
              <p:cNvSpPr txBox="1"/>
              <p:nvPr/>
            </p:nvSpPr>
            <p:spPr>
              <a:xfrm>
                <a:off x="1565578" y="3213557"/>
                <a:ext cx="6273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3035F8-57A6-4FA2-B23C-B65122E7D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578" y="3213557"/>
                <a:ext cx="62735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71BA26C-6510-4DBD-8CDD-0DD98FB3168D}"/>
              </a:ext>
            </a:extLst>
          </p:cNvPr>
          <p:cNvSpPr txBox="1"/>
          <p:nvPr/>
        </p:nvSpPr>
        <p:spPr>
          <a:xfrm>
            <a:off x="5393205" y="2736502"/>
            <a:ext cx="459773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Relation between SL and T. </a:t>
            </a:r>
          </a:p>
          <a:p>
            <a:r>
              <a:rPr lang="en-US" sz="2800" dirty="0"/>
              <a:t>This is a parameter that will</a:t>
            </a:r>
          </a:p>
          <a:p>
            <a:r>
              <a:rPr lang="en-US" sz="2800" dirty="0"/>
              <a:t> be a part of the MCMC Chain.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127E69-775F-4207-8F6A-D3F704A8A198}"/>
              </a:ext>
            </a:extLst>
          </p:cNvPr>
          <p:cNvCxnSpPr/>
          <p:nvPr/>
        </p:nvCxnSpPr>
        <p:spPr>
          <a:xfrm flipV="1">
            <a:off x="3793067" y="1744133"/>
            <a:ext cx="2032000" cy="992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89115B-B1B2-4D85-9766-C37F4E393F2F}"/>
              </a:ext>
            </a:extLst>
          </p:cNvPr>
          <p:cNvCxnSpPr>
            <a:endCxn id="6" idx="0"/>
          </p:cNvCxnSpPr>
          <p:nvPr/>
        </p:nvCxnSpPr>
        <p:spPr>
          <a:xfrm>
            <a:off x="5842000" y="1768321"/>
            <a:ext cx="1850072" cy="968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230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5C53-EDB5-44E6-A94A-9D1BB2663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been done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9501-7E18-4D69-80B6-157C1A793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701"/>
            <a:ext cx="10515600" cy="1607383"/>
          </a:xfrm>
        </p:spPr>
        <p:txBody>
          <a:bodyPr/>
          <a:lstStyle/>
          <a:p>
            <a:r>
              <a:rPr lang="en-US" dirty="0"/>
              <a:t>MCMC model</a:t>
            </a:r>
          </a:p>
          <a:p>
            <a:r>
              <a:rPr lang="en-US" dirty="0"/>
              <a:t>DOECLIM model</a:t>
            </a:r>
          </a:p>
          <a:p>
            <a:r>
              <a:rPr lang="en-US" dirty="0"/>
              <a:t>Simple AR1 matrix with 0’s as off-diagonal values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ACA028-7EC0-46AF-9E9A-CF2B98A6B0CB}"/>
              </a:ext>
            </a:extLst>
          </p:cNvPr>
          <p:cNvSpPr txBox="1">
            <a:spLocks/>
          </p:cNvSpPr>
          <p:nvPr/>
        </p:nvSpPr>
        <p:spPr>
          <a:xfrm>
            <a:off x="838200" y="3117017"/>
            <a:ext cx="10515600" cy="950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Bahnschrift" panose="020B0502040204020203" pitchFamily="34" charset="0"/>
              </a:rPr>
              <a:t>What we’re going to do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E375AF-8ED2-4553-99D9-C07D927D090D}"/>
              </a:ext>
            </a:extLst>
          </p:cNvPr>
          <p:cNvSpPr txBox="1">
            <a:spLocks/>
          </p:cNvSpPr>
          <p:nvPr/>
        </p:nvSpPr>
        <p:spPr>
          <a:xfrm>
            <a:off x="838200" y="4224592"/>
            <a:ext cx="10515600" cy="2047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hnschrift" panose="020B0502040204020203" pitchFamily="34" charset="0"/>
              </a:rPr>
              <a:t>MCMC model which takes in sea-level values and gives us estimates on temperature </a:t>
            </a:r>
          </a:p>
          <a:p>
            <a:r>
              <a:rPr lang="en-US" dirty="0">
                <a:latin typeface="Bahnschrift" panose="020B0502040204020203" pitchFamily="34" charset="0"/>
              </a:rPr>
              <a:t>Combined and easy-to-use python script</a:t>
            </a:r>
          </a:p>
          <a:p>
            <a:r>
              <a:rPr lang="en-US" dirty="0">
                <a:latin typeface="Bahnschrift" panose="020B0502040204020203" pitchFamily="34" charset="0"/>
              </a:rPr>
              <a:t>AR1 matrix which includes correlated uncertainties</a:t>
            </a:r>
          </a:p>
          <a:p>
            <a:endParaRPr lang="en-US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143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80C1-8EA5-4A70-9B44-C543F4A5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EF24-B224-4155-91B1-E792DE570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November </a:t>
            </a:r>
            <a:r>
              <a:rPr lang="mr-IN" dirty="0"/>
              <a:t>–</a:t>
            </a:r>
            <a:endParaRPr lang="en-US" dirty="0"/>
          </a:p>
          <a:p>
            <a:pPr lvl="1"/>
            <a:r>
              <a:rPr lang="en-US" dirty="0"/>
              <a:t>DOECLIM + GMSL model coupling (no calibration)</a:t>
            </a:r>
          </a:p>
          <a:p>
            <a:r>
              <a:rPr lang="en-US" dirty="0"/>
              <a:t>December – </a:t>
            </a:r>
          </a:p>
          <a:p>
            <a:pPr lvl="1"/>
            <a:r>
              <a:rPr lang="en-US" dirty="0"/>
              <a:t>Finish combining DOECLIM model with the GMSL model and the calibration.</a:t>
            </a:r>
          </a:p>
          <a:p>
            <a:r>
              <a:rPr lang="en-US" dirty="0"/>
              <a:t>Jan </a:t>
            </a:r>
            <a:r>
              <a:rPr lang="mr-IN" dirty="0"/>
              <a:t>–</a:t>
            </a:r>
            <a:r>
              <a:rPr lang="en-US" dirty="0"/>
              <a:t> April </a:t>
            </a:r>
            <a:r>
              <a:rPr lang="mr-IN" dirty="0"/>
              <a:t>–</a:t>
            </a:r>
            <a:r>
              <a:rPr lang="en-US" dirty="0"/>
              <a:t> Experiments and error </a:t>
            </a:r>
            <a:r>
              <a:rPr lang="en-US"/>
              <a:t>checking along with write-up.</a:t>
            </a:r>
            <a:endParaRPr lang="en-US" dirty="0"/>
          </a:p>
          <a:p>
            <a:r>
              <a:rPr lang="en-US" dirty="0"/>
              <a:t>End of April –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747472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632757-107D-438A-BA93-6EBF49DF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AR1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A4DCC2-56D4-4FEB-BA98-1C25194A0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5453"/>
                <a:ext cx="10515600" cy="48615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\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charset="0"/>
                              </a:rPr>
                              <m:t>epsilon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b="0" dirty="0"/>
              </a:p>
              <a:p>
                <a:r>
                  <a:rPr lang="en-US" dirty="0"/>
                  <a:t>Will put each variable means</a:t>
                </a: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DA4DCC2-56D4-4FEB-BA98-1C25194A0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5453"/>
                <a:ext cx="10515600" cy="4861509"/>
              </a:xfrm>
              <a:blipFill rotWithShape="0"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353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49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</TotalTime>
  <Words>855</Words>
  <Application>Microsoft Office PowerPoint</Application>
  <PresentationFormat>Widescreen</PresentationFormat>
  <Paragraphs>151</Paragraphs>
  <Slides>18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Bahnschrift</vt:lpstr>
      <vt:lpstr>Calibri</vt:lpstr>
      <vt:lpstr>Calibri Light</vt:lpstr>
      <vt:lpstr>Cambria Math</vt:lpstr>
      <vt:lpstr>Mangal</vt:lpstr>
      <vt:lpstr>Office Theme</vt:lpstr>
      <vt:lpstr>Mid Semester Presentation</vt:lpstr>
      <vt:lpstr>Motivation</vt:lpstr>
      <vt:lpstr>Goal</vt:lpstr>
      <vt:lpstr>Sea-level Change</vt:lpstr>
      <vt:lpstr>Future radiative forcing in difference scenarios</vt:lpstr>
      <vt:lpstr>NOAA Data</vt:lpstr>
      <vt:lpstr>Equation to model Sea-level Rise -</vt:lpstr>
      <vt:lpstr>Calibrating the model to the data</vt:lpstr>
      <vt:lpstr>The MCMC chain</vt:lpstr>
      <vt:lpstr>History Plots</vt:lpstr>
      <vt:lpstr>Gelman-Rubin Diagnostic</vt:lpstr>
      <vt:lpstr>AR1 Matrix</vt:lpstr>
      <vt:lpstr>PowerPoint Presentation</vt:lpstr>
      <vt:lpstr>AR1 Matrix with correlated uncertainties</vt:lpstr>
      <vt:lpstr>What’s been done -</vt:lpstr>
      <vt:lpstr>Future Timeline</vt:lpstr>
      <vt:lpstr>Building the AR1 Matrix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 Semester Presentation</dc:title>
  <dc:creator>H. Nihar Nandan</dc:creator>
  <cp:lastModifiedBy>H. Nihar Nandan</cp:lastModifiedBy>
  <cp:revision>106</cp:revision>
  <dcterms:created xsi:type="dcterms:W3CDTF">2018-10-19T18:36:10Z</dcterms:created>
  <dcterms:modified xsi:type="dcterms:W3CDTF">2018-10-25T07:27:58Z</dcterms:modified>
</cp:coreProperties>
</file>